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respected panel members and mentor Mr. Mohit Tiwari. We are Madhav Bhardwaj, Vasvi Gupta, and Anushka Saxena, presenting our B.Tech Micro Project entitled 'TRUST-SOC'. TRUST-SOC introduces a trust-aware, two-agent intrusion detection and triage pipeline with evidence-linked reporting. In today's presentation, we will walk you through the operational crisis of alert fatigue in SOCs, our literature review across classical ML, explainable AI, and multi-agent systems, the identified research gaps, frozen objectives, our six-stage proposed methodology, and a detailed performance comparison with existing methodologies.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we introduce the primary motivation behind TRUST-SOC. Security Operations Centers (SOCs) are overwhelmed by massive alert volumes. In enterprise networks, intrusion detection systems routinely generate thousands of alerts a day, the vast majority of which turn out to be false alarms. This causes severe alert fatigue: analysts can no longer investigate every alert thoroughly, creating blind spots where real breaches slip through. Furthermore, conventional academic models suffer from four fatal flaws: they have no second line of defense against false alarms, their decisions are opaque black boxes, they provide no auditable trail back to raw flow evidence, and they fail to prioritize alerts based on multi-source confidence.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3, we reveal our solution: TRUST-SOC. Instead of treating intrusion detection as a single classification step, we decompose the SOC triage pipeline into specialized cooperating components. First, a Log-Analysis Detection Agent evaluates incoming flows and proposes candidate alerts with SHAP feature attributions. Crucially, its output is treated only as a proposal. Second, an independent Verification Agent scrutinizes the proposed alert through four orthogonal corroboration signals. Third, a Confidence Scoring Engine mathematically fuses these signals into a High, Medium, or Low severity band. Finally, every alert is compiled into an evidence-linked JSON and PDF report and surfaced on an interactive SOC dashboard.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our literature survey on slide 4: We review the foundations of ML-based IDS and benchmark datasets. Buczak &amp; Guven and Khraisat et al. documented that despite decades of research, high offline accuracy on static benchmarks fails in production because of unacceptably high false alarm rates. In terms of datasets, Sharafaldin et al. introduced CICIDS2017 and CSE-CIC-IDS2018, which capture modern network protocols with over 80 flow features. However, Panigrahi and Borah's 2018 critique showed that CICIDS2017 contains critical label skews, duplicate flows, and infinite values that artificially inflate naive models. This justifies our meticulous data preprocessing and confirms that an unverified classifier prediction cannot be trusted.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5, we explore explainability and multi-agent triage in the literature. Lundberg and Lee's SHAP framework provides game-theoretic feature attribution, which Wang et al. demonstrated helps SOC analysts understand why an IDS triggered an alert. In TRUST-SOC, we take SHAP a step further: we do not just display it to humans; our Verification Agent programmatically verifies whether the top SHAP features match the expected semantics of the attack class. In the multi-agent space, recent breakthrough systems like CORTEX (2025) and QASecClaw (2026) demonstrated that decomposing triage into proposing and verifying agents yields up to an 88.6% reduction in false positives. This provides strong scientific validation for our detect-then-verify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provides our literature synthesis matrix. It maps out each key reference, its contribution, its limitation, and its direct relevance to TRUST-SOC. Notice the clear progression: Sharafaldin and Panigrahi establish the dataset landscape and its data-quality pitfalls; Buczak and Khraisat highlight the persistent false positive crisis; Lundberg and Wang give us the mathematics of explainability; and CORTEX and QASecClaw prove the effectiveness of multi-agent verification. TRUST-SOC synthesizes these findings into a unified, lightweight pipeline.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pinpoints our exact research gap. Today, the cybersecurity literature has fractured into two isolated silos. On one side, benchmark IDS research focuses exclusively on tuning single classifiers on static test sets without self-checking, and explanations remain passive images. On the other side, cutting-edge multi-agent systems like CORTEX prove that a second verification agent slashes false positives, but they rely on costly, closed, commercial LLM APIs and proprietary logs. TRUST-SOC fills this critical gap: we build a lightweight, 100% reproducible detect-then-verify pipeline using classical ML and explainability checks on open benchmark datasets, delivering the benefits of agentic verification without the cost or latency of LLMs.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articulates the seven frozen, measurable objectives of TRUST-SOC for our Micro Project. Each objective maps to an independently verifiable system module: 1. Ingestion and normalisation of CICIDS2017 and CSE-CIC-IDS2018; 2. Training the Log-Analysis Detection Agent with integrated SHAP feature explanations; 3. Designing the Verification Agent with its 4-signal corroboration logic; 4. Tuning the multi-source Confidence Scoring Engine and severity banding; 5. Automating per-alert evidence-linked JSON and PDF audit reporting; 6. Constructing the interactive SOC dashboard for triage and drill-down; and 7. Empirically evaluating our primary metric: the quantitative reduction in false-positive rate.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9, we detail our proposed methodology and end-to-end agent workflow. The pipeline moves sequentially through 6 stages: log ingestion, Detection Agent classification, Verification Agent scrutiny, Confidence Scoring, Evidence-Linked Reporting, and the SOC Dashboard. Look closely at the Verification Agent on the bottom left: it evaluates four distinct corroboration signals: static rule context, an unsupervised Isolation Forest anomaly score, historical host behavioral baselines, and semantic SHAP consistency. Based on these signals, it outputs CONFIRM, REDUCE, or REJECT. Alerts that are rejected are filtered as verified false positives and logged for audit without fatiguing the analyst. The remaining alerts receive a composite score C combining detection probability, verification agreement, and rule context, categorizing them into High, Medium, or Low priority bands.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on slide 10, we present a systematic performance comparison between existing methodologies and TRUST-SOC. Traditional signature-based systems like Snort are fast but flood analysts with false alarms and miss zero-day variants. Standalone ML classifiers achieve good benchmark scores but have zero second-line defense and remain opaque black boxes. Recent multi-agent LLM systems like CORTEX successfully reduce false positives, but they are cost-prohibitive, non-reproducible, and tethered to proprietary enterprise logs. TRUST-SOC delivers the best of both worlds: it provides the false-positive reduction of a two-agent architecture, active explainability via SHAP consistency checks, automated audit trails, and an analyst-centric dashboard, all built on a fast, lightweight, and 100% reproducible open-source stack. Thank you, and we now welcome questions from the honorable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solidFill>
              <a:srgbClr val="0B1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D2FF"/>
          </a:solidFill>
          <a:ln>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685800"/>
            <a:ext cx="4297680" cy="347472"/>
          </a:xfrm>
          <a:prstGeom prst="roundRect">
            <a:avLst/>
          </a:prstGeom>
          <a:solidFill>
            <a:srgbClr val="1B263B"/>
          </a:solidFill>
          <a:ln w="12700">
            <a:solidFill>
              <a:srgbClr val="00D2FF"/>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100" b="1">
                <a:solidFill>
                  <a:srgbClr val="00D2FF"/>
                </a:solidFill>
              </a:defRPr>
            </a:pPr>
            <a:r>
              <a:t>B.TECH CSE MICRO PROJECT PRESENTATION</a:t>
            </a:r>
          </a:p>
        </p:txBody>
      </p:sp>
      <p:sp>
        <p:nvSpPr>
          <p:cNvPr id="5" name="TextBox 4"/>
          <p:cNvSpPr txBox="1"/>
          <p:nvPr/>
        </p:nvSpPr>
        <p:spPr>
          <a:xfrm>
            <a:off x="731520" y="1143000"/>
            <a:ext cx="10698480" cy="1645920"/>
          </a:xfrm>
          <a:prstGeom prst="rect">
            <a:avLst/>
          </a:prstGeom>
          <a:noFill/>
        </p:spPr>
        <p:txBody>
          <a:bodyPr wrap="square" lIns="0" tIns="0">
            <a:spAutoFit/>
          </a:bodyPr>
          <a:lstStyle/>
          <a:p>
            <a:pPr>
              <a:defRPr sz="3800" b="1">
                <a:solidFill>
                  <a:srgbClr val="FFFFFF"/>
                </a:solidFill>
              </a:defRPr>
            </a:pPr>
            <a:r>
              <a:t>TRUST - SOC</a:t>
            </a:r>
          </a:p>
          <a:p>
            <a:pPr>
              <a:spcBef>
                <a:spcPts val="600"/>
              </a:spcBef>
              <a:defRPr sz="1600">
                <a:solidFill>
                  <a:srgbClr val="94A3B8"/>
                </a:solidFill>
              </a:defRPr>
            </a:pPr>
            <a:r>
              <a:t>A Trust-Aware, Two-Agent Intrusion Detection &amp; Triage Pipeline with Evidence-Linked Reporting</a:t>
            </a:r>
          </a:p>
        </p:txBody>
      </p:sp>
      <p:sp>
        <p:nvSpPr>
          <p:cNvPr id="6" name="Rounded Rectangle 5"/>
          <p:cNvSpPr/>
          <p:nvPr/>
        </p:nvSpPr>
        <p:spPr>
          <a:xfrm>
            <a:off x="731520" y="2926080"/>
            <a:ext cx="3383280" cy="3383280"/>
          </a:xfrm>
          <a:prstGeom prst="roundRect">
            <a:avLst/>
          </a:prstGeom>
          <a:solidFill>
            <a:srgbClr val="1B263B"/>
          </a:solidFill>
          <a:ln w="12700">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108960"/>
            <a:ext cx="3017520" cy="3017520"/>
          </a:xfrm>
          <a:prstGeom prst="rect">
            <a:avLst/>
          </a:prstGeom>
          <a:noFill/>
        </p:spPr>
        <p:txBody>
          <a:bodyPr wrap="square" lIns="0" tIns="0">
            <a:spAutoFit/>
          </a:bodyPr>
          <a:lstStyle/>
          <a:p>
            <a:pPr>
              <a:defRPr sz="1300" b="1">
                <a:solidFill>
                  <a:srgbClr val="00D2FF"/>
                </a:solidFill>
              </a:defRPr>
            </a:pPr>
            <a:r>
              <a:t>STUDENT TEAM</a:t>
            </a:r>
          </a:p>
          <a:p>
            <a:pPr>
              <a:spcBef>
                <a:spcPts val="800"/>
              </a:spcBef>
              <a:defRPr sz="1200" b="1">
                <a:solidFill>
                  <a:srgbClr val="F1F5F9"/>
                </a:solidFill>
              </a:defRPr>
            </a:pPr>
            <a:r>
              <a:t>• Madhav Bhardwaj</a:t>
            </a:r>
          </a:p>
          <a:p>
            <a:pPr>
              <a:defRPr sz="1050">
                <a:solidFill>
                  <a:srgbClr val="94A3B8"/>
                </a:solidFill>
              </a:defRPr>
            </a:pPr>
            <a:r>
              <a:t>   Enrollment No: 10311502724</a:t>
            </a:r>
          </a:p>
          <a:p>
            <a:pPr>
              <a:spcBef>
                <a:spcPts val="800"/>
              </a:spcBef>
              <a:defRPr sz="1200" b="1">
                <a:solidFill>
                  <a:srgbClr val="F1F5F9"/>
                </a:solidFill>
              </a:defRPr>
            </a:pPr>
            <a:r>
              <a:t>• Vasvi Gupta</a:t>
            </a:r>
          </a:p>
          <a:p>
            <a:pPr>
              <a:defRPr sz="1050">
                <a:solidFill>
                  <a:srgbClr val="94A3B8"/>
                </a:solidFill>
              </a:defRPr>
            </a:pPr>
            <a:r>
              <a:t>   Enrollment No: 10411502724</a:t>
            </a:r>
          </a:p>
          <a:p>
            <a:pPr>
              <a:spcBef>
                <a:spcPts val="800"/>
              </a:spcBef>
              <a:defRPr sz="1200" b="1">
                <a:solidFill>
                  <a:srgbClr val="F1F5F9"/>
                </a:solidFill>
              </a:defRPr>
            </a:pPr>
            <a:r>
              <a:t>• Anushka Saxena</a:t>
            </a:r>
          </a:p>
          <a:p>
            <a:pPr>
              <a:defRPr sz="1050">
                <a:solidFill>
                  <a:srgbClr val="94A3B8"/>
                </a:solidFill>
              </a:defRPr>
            </a:pPr>
            <a:r>
              <a:t>   Enrollment No: 11111502724</a:t>
            </a:r>
          </a:p>
        </p:txBody>
      </p:sp>
      <p:sp>
        <p:nvSpPr>
          <p:cNvPr id="8" name="Rounded Rectangle 7"/>
          <p:cNvSpPr/>
          <p:nvPr/>
        </p:nvSpPr>
        <p:spPr>
          <a:xfrm>
            <a:off x="4389120" y="2926080"/>
            <a:ext cx="3383280" cy="3383280"/>
          </a:xfrm>
          <a:prstGeom prst="roundRect">
            <a:avLst/>
          </a:prstGeom>
          <a:solidFill>
            <a:srgbClr val="1B263B"/>
          </a:solidFill>
          <a:ln w="12700">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3108960"/>
            <a:ext cx="3017520" cy="3017520"/>
          </a:xfrm>
          <a:prstGeom prst="rect">
            <a:avLst/>
          </a:prstGeom>
          <a:noFill/>
        </p:spPr>
        <p:txBody>
          <a:bodyPr wrap="square" lIns="0" tIns="0">
            <a:spAutoFit/>
          </a:bodyPr>
          <a:lstStyle/>
          <a:p>
            <a:pPr>
              <a:defRPr sz="1300" b="1">
                <a:solidFill>
                  <a:srgbClr val="00D2FF"/>
                </a:solidFill>
              </a:defRPr>
            </a:pPr>
            <a:r>
              <a:t>PROJECT MENTOR &amp; INSTITUTION</a:t>
            </a:r>
          </a:p>
          <a:p>
            <a:pPr>
              <a:spcBef>
                <a:spcPts val="800"/>
              </a:spcBef>
              <a:defRPr sz="1100">
                <a:solidFill>
                  <a:srgbClr val="94A3B8"/>
                </a:solidFill>
              </a:defRPr>
            </a:pPr>
            <a:r>
              <a:t>Under the Guidance of:</a:t>
            </a:r>
          </a:p>
          <a:p>
            <a:pPr>
              <a:defRPr sz="1300" b="1">
                <a:solidFill>
                  <a:srgbClr val="F1F5F9"/>
                </a:solidFill>
              </a:defRPr>
            </a:pPr>
            <a:r>
              <a:t>Mr. Mohit Tiwari</a:t>
            </a:r>
          </a:p>
          <a:p>
            <a:pPr>
              <a:defRPr sz="1100">
                <a:solidFill>
                  <a:srgbClr val="CBD5E1"/>
                </a:solidFill>
              </a:defRPr>
            </a:pPr>
            <a:r>
              <a:t>Assistant Professor, Dept. of CSE</a:t>
            </a:r>
          </a:p>
          <a:p>
            <a:pPr>
              <a:spcBef>
                <a:spcPts val="1000"/>
              </a:spcBef>
              <a:defRPr sz="1050">
                <a:solidFill>
                  <a:srgbClr val="94A3B8"/>
                </a:solidFill>
              </a:defRPr>
            </a:pPr>
            <a:r>
              <a:t>Bharati Vidyapeeth's College of Engineering</a:t>
            </a:r>
            <a:br/>
            <a:r>
              <a:t>(Affiliated to GGSIPU, Delhi)</a:t>
            </a:r>
            <a:br/>
            <a:r>
              <a:t>Department of Computer Science &amp; Engg.</a:t>
            </a:r>
          </a:p>
        </p:txBody>
      </p:sp>
      <p:sp>
        <p:nvSpPr>
          <p:cNvPr id="10" name="Rounded Rectangle 9"/>
          <p:cNvSpPr/>
          <p:nvPr/>
        </p:nvSpPr>
        <p:spPr>
          <a:xfrm>
            <a:off x="8046720" y="2926080"/>
            <a:ext cx="3383280" cy="3383280"/>
          </a:xfrm>
          <a:prstGeom prst="roundRect">
            <a:avLst/>
          </a:prstGeom>
          <a:solidFill>
            <a:srgbClr val="1B263B"/>
          </a:solidFill>
          <a:ln w="12700">
            <a:solidFill>
              <a:srgbClr val="415A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3108960"/>
            <a:ext cx="3017520" cy="3017520"/>
          </a:xfrm>
          <a:prstGeom prst="rect">
            <a:avLst/>
          </a:prstGeom>
          <a:noFill/>
        </p:spPr>
        <p:txBody>
          <a:bodyPr wrap="square" lIns="0" tIns="0">
            <a:spAutoFit/>
          </a:bodyPr>
          <a:lstStyle/>
          <a:p>
            <a:pPr>
              <a:defRPr sz="1300" b="1">
                <a:solidFill>
                  <a:srgbClr val="00D2FF"/>
                </a:solidFill>
              </a:defRPr>
            </a:pPr>
            <a:r>
              <a:t>PRESENTATION AGENDA</a:t>
            </a:r>
          </a:p>
          <a:p>
            <a:pPr>
              <a:spcBef>
                <a:spcPts val="500"/>
              </a:spcBef>
              <a:defRPr sz="1050">
                <a:solidFill>
                  <a:srgbClr val="E2E8F0"/>
                </a:solidFill>
              </a:defRPr>
            </a:pPr>
            <a:r>
              <a:t>• 1. Problem Context &amp; Alert Fatigue</a:t>
            </a:r>
          </a:p>
          <a:p>
            <a:pPr>
              <a:spcBef>
                <a:spcPts val="500"/>
              </a:spcBef>
              <a:defRPr sz="1050">
                <a:solidFill>
                  <a:srgbClr val="E2E8F0"/>
                </a:solidFill>
              </a:defRPr>
            </a:pPr>
            <a:r>
              <a:t>• 2. The TRUST-SOC Agentic Solution</a:t>
            </a:r>
          </a:p>
          <a:p>
            <a:pPr>
              <a:spcBef>
                <a:spcPts val="500"/>
              </a:spcBef>
              <a:defRPr sz="1050">
                <a:solidFill>
                  <a:srgbClr val="E2E8F0"/>
                </a:solidFill>
              </a:defRPr>
            </a:pPr>
            <a:r>
              <a:t>• 3. Literature Survey (3 Detailed Slides)</a:t>
            </a:r>
          </a:p>
          <a:p>
            <a:pPr>
              <a:spcBef>
                <a:spcPts val="500"/>
              </a:spcBef>
              <a:defRPr sz="1050">
                <a:solidFill>
                  <a:srgbClr val="E2E8F0"/>
                </a:solidFill>
              </a:defRPr>
            </a:pPr>
            <a:r>
              <a:t>• 4. Critical Research Gap Analysis</a:t>
            </a:r>
          </a:p>
          <a:p>
            <a:pPr>
              <a:spcBef>
                <a:spcPts val="500"/>
              </a:spcBef>
              <a:defRPr sz="1050">
                <a:solidFill>
                  <a:srgbClr val="E2E8F0"/>
                </a:solidFill>
              </a:defRPr>
            </a:pPr>
            <a:r>
              <a:t>• 5. Scoped Project Objectives</a:t>
            </a:r>
          </a:p>
          <a:p>
            <a:pPr>
              <a:spcBef>
                <a:spcPts val="500"/>
              </a:spcBef>
              <a:defRPr sz="1050">
                <a:solidFill>
                  <a:srgbClr val="E2E8F0"/>
                </a:solidFill>
              </a:defRPr>
            </a:pPr>
            <a:r>
              <a:t>• 6. Proposed 6-Stage Methodology</a:t>
            </a:r>
          </a:p>
          <a:p>
            <a:pPr>
              <a:spcBef>
                <a:spcPts val="500"/>
              </a:spcBef>
              <a:defRPr sz="1050">
                <a:solidFill>
                  <a:srgbClr val="E2E8F0"/>
                </a:solidFill>
              </a:defRPr>
            </a:pPr>
            <a:r>
              <a:t>• 7. Performance Comparison of Methods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TRUST-SOC | MICRO PROJECT PRESENTATION</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Introduction: The SOC Alert Fatigue Crisis &amp; Baseline Deficiencies</a:t>
            </a:r>
          </a:p>
        </p:txBody>
      </p:sp>
      <p:sp>
        <p:nvSpPr>
          <p:cNvPr id="5" name="Rectangle 4"/>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4572000" cy="4389120"/>
          </a:xfrm>
          <a:prstGeom prst="rect">
            <a:avLst/>
          </a:prstGeom>
          <a:noFill/>
        </p:spPr>
        <p:txBody>
          <a:bodyPr wrap="square" lIns="0" tIns="0">
            <a:spAutoFit/>
          </a:bodyPr>
          <a:lstStyle/>
          <a:p>
            <a:pPr>
              <a:defRPr sz="1500" b="1">
                <a:solidFill>
                  <a:srgbClr val="0284C7"/>
                </a:solidFill>
              </a:defRPr>
            </a:pPr>
            <a:r>
              <a:t>The Modern SOC Landscape</a:t>
            </a:r>
          </a:p>
          <a:p>
            <a:pPr>
              <a:spcBef>
                <a:spcPts val="800"/>
              </a:spcBef>
              <a:defRPr sz="1200" b="1">
                <a:solidFill>
                  <a:srgbClr val="0F172A"/>
                </a:solidFill>
              </a:defRPr>
            </a:pPr>
            <a:r>
              <a:t>• Frontline Cyber Defence:</a:t>
            </a:r>
          </a:p>
          <a:p>
            <a:pPr>
              <a:defRPr sz="1050">
                <a:solidFill>
                  <a:srgbClr val="64748B"/>
                </a:solidFill>
              </a:defRPr>
            </a:pPr>
            <a:r>
              <a:t>   Security Operations Centers (SOCs) continuously monitor network flows, host telemetry, and endpoint logs to defend enterprise assets against breach and exfiltration.</a:t>
            </a:r>
          </a:p>
          <a:p>
            <a:pPr>
              <a:spcBef>
                <a:spcPts val="800"/>
              </a:spcBef>
              <a:defRPr sz="1200" b="1">
                <a:solidFill>
                  <a:srgbClr val="0F172A"/>
                </a:solidFill>
              </a:defRPr>
            </a:pPr>
            <a:r>
              <a:t>• Event Ingestion Scale:</a:t>
            </a:r>
          </a:p>
          <a:p>
            <a:pPr>
              <a:defRPr sz="1050">
                <a:solidFill>
                  <a:srgbClr val="64748B"/>
                </a:solidFill>
              </a:defRPr>
            </a:pPr>
            <a:r>
              <a:t>   Modern enterprises generate millions of events daily. Intrusion detection engines triage this volume but routinely flag thousands of raw alerts.</a:t>
            </a:r>
          </a:p>
          <a:p>
            <a:pPr>
              <a:spcBef>
                <a:spcPts val="800"/>
              </a:spcBef>
              <a:defRPr sz="1200" b="1">
                <a:solidFill>
                  <a:srgbClr val="0F172A"/>
                </a:solidFill>
              </a:defRPr>
            </a:pPr>
            <a:r>
              <a:t>• The 'Alert Fatigue' Bottleneck:</a:t>
            </a:r>
          </a:p>
          <a:p>
            <a:pPr>
              <a:defRPr sz="1050">
                <a:solidFill>
                  <a:srgbClr val="64748B"/>
                </a:solidFill>
              </a:defRPr>
            </a:pPr>
            <a:r>
              <a:t>   Over 80-90% of flagged alerts are benign noise or false positives. Analysts experience severe cognitive exhaustion, deprioritizing alerts and missing real intrusions.</a:t>
            </a:r>
          </a:p>
          <a:p>
            <a:pPr>
              <a:spcBef>
                <a:spcPts val="800"/>
              </a:spcBef>
              <a:defRPr sz="1200" b="1">
                <a:solidFill>
                  <a:srgbClr val="0F172A"/>
                </a:solidFill>
              </a:defRPr>
            </a:pPr>
            <a:r>
              <a:t>• Failure of Standalone Classifiers:</a:t>
            </a:r>
          </a:p>
          <a:p>
            <a:pPr>
              <a:defRPr sz="1050">
                <a:solidFill>
                  <a:srgbClr val="64748B"/>
                </a:solidFill>
              </a:defRPr>
            </a:pPr>
            <a:r>
              <a:t>   A single ML model evaluated on benchmark data cannot be safely deployed for autonomous triage: it lacks self-verification and produces no audit trail.</a:t>
            </a:r>
          </a:p>
        </p:txBody>
      </p:sp>
      <p:sp>
        <p:nvSpPr>
          <p:cNvPr id="8" name="Rounded Rectangle 7"/>
          <p:cNvSpPr/>
          <p:nvPr/>
        </p:nvSpPr>
        <p:spPr>
          <a:xfrm>
            <a:off x="6217920" y="1463040"/>
            <a:ext cx="52120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645920"/>
            <a:ext cx="4663440" cy="4389120"/>
          </a:xfrm>
          <a:prstGeom prst="rect">
            <a:avLst/>
          </a:prstGeom>
          <a:noFill/>
        </p:spPr>
        <p:txBody>
          <a:bodyPr wrap="square" lIns="0" tIns="0">
            <a:spAutoFit/>
          </a:bodyPr>
          <a:lstStyle/>
          <a:p>
            <a:pPr>
              <a:defRPr sz="1500" b="1">
                <a:solidFill>
                  <a:srgbClr val="EF4444"/>
                </a:solidFill>
              </a:defRPr>
            </a:pPr>
            <a:r>
              <a:t>Key Deficiencies in Conventional IDS Research</a:t>
            </a:r>
          </a:p>
          <a:p>
            <a:pPr>
              <a:spcBef>
                <a:spcPts val="800"/>
              </a:spcBef>
              <a:defRPr sz="1200" b="1">
                <a:solidFill>
                  <a:srgbClr val="0F172A"/>
                </a:solidFill>
              </a:defRPr>
            </a:pPr>
            <a:r>
              <a:t>• 1. No Second Line of Defence:</a:t>
            </a:r>
          </a:p>
          <a:p>
            <a:pPr>
              <a:defRPr sz="1050">
                <a:solidFill>
                  <a:srgbClr val="64748B"/>
                </a:solidFill>
              </a:defRPr>
            </a:pPr>
            <a:r>
              <a:t>   A single classifier's false positives reach the human analyst unchecked. False alarms are merely measured in research papers, never actively filtered in-pipeline.</a:t>
            </a:r>
          </a:p>
          <a:p>
            <a:pPr>
              <a:spcBef>
                <a:spcPts val="800"/>
              </a:spcBef>
              <a:defRPr sz="1200" b="1">
                <a:solidFill>
                  <a:srgbClr val="0F172A"/>
                </a:solidFill>
              </a:defRPr>
            </a:pPr>
            <a:r>
              <a:t>• 2. Opaque, Black-Box Verdicts:</a:t>
            </a:r>
          </a:p>
          <a:p>
            <a:pPr>
              <a:defRPr sz="1050">
                <a:solidFill>
                  <a:srgbClr val="64748B"/>
                </a:solidFill>
              </a:defRPr>
            </a:pPr>
            <a:r>
              <a:t>   Analysts are handed a categorical label (e.g., 'DDoS') and a raw probability, but no explanation of which flow features drove the verdict, delaying triage.</a:t>
            </a:r>
          </a:p>
          <a:p>
            <a:pPr>
              <a:spcBef>
                <a:spcPts val="800"/>
              </a:spcBef>
              <a:defRPr sz="1200" b="1">
                <a:solidFill>
                  <a:srgbClr val="0F172A"/>
                </a:solidFill>
              </a:defRPr>
            </a:pPr>
            <a:r>
              <a:t>• 3. Absent Audit Trail:</a:t>
            </a:r>
          </a:p>
          <a:p>
            <a:pPr>
              <a:defRPr sz="1050">
                <a:solidFill>
                  <a:srgbClr val="64748B"/>
                </a:solidFill>
              </a:defRPr>
            </a:pPr>
            <a:r>
              <a:t>   Alerts are disconnected from raw network logs, feature vectors, and verification rationale, making compliance, review, and incident defense impossible.</a:t>
            </a:r>
          </a:p>
          <a:p>
            <a:pPr>
              <a:spcBef>
                <a:spcPts val="800"/>
              </a:spcBef>
              <a:defRPr sz="1200" b="1">
                <a:solidFill>
                  <a:srgbClr val="0F172A"/>
                </a:solidFill>
              </a:defRPr>
            </a:pPr>
            <a:r>
              <a:t>• 4. Uniform Urgency (No Prioritization):</a:t>
            </a:r>
          </a:p>
          <a:p>
            <a:pPr>
              <a:defRPr sz="1050">
                <a:solidFill>
                  <a:srgbClr val="64748B"/>
                </a:solidFill>
              </a:defRPr>
            </a:pPr>
            <a:r>
              <a:t>   Analysts must treat every alert with equal urgency because there is no principled, multi-source confidence score to separate 'escalate now' from 'log and monitor'.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TRUST-SOC | MICRO PROJECT PRESENTATION</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Introduction: The TRUST-SOC Multi-Agent Solution</a:t>
            </a:r>
          </a:p>
        </p:txBody>
      </p:sp>
      <p:sp>
        <p:nvSpPr>
          <p:cNvPr id="5" name="Rectangle 4"/>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17320"/>
            <a:ext cx="10698480" cy="1051560"/>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10332720" cy="868680"/>
          </a:xfrm>
          <a:prstGeom prst="rect">
            <a:avLst/>
          </a:prstGeom>
          <a:noFill/>
        </p:spPr>
        <p:txBody>
          <a:bodyPr wrap="square" lIns="0" tIns="0">
            <a:spAutoFit/>
          </a:bodyPr>
          <a:lstStyle/>
          <a:p>
            <a:pPr>
              <a:defRPr sz="1350" b="1">
                <a:solidFill>
                  <a:srgbClr val="0284C7"/>
                </a:solidFill>
              </a:defRPr>
            </a:pPr>
            <a:r>
              <a:t>The TRUST-SOC Paradigm: Decomposing SOC Triage into Cooperating Agents</a:t>
            </a:r>
          </a:p>
          <a:p>
            <a:pPr>
              <a:spcBef>
                <a:spcPts val="300"/>
              </a:spcBef>
              <a:defRPr sz="1100">
                <a:solidFill>
                  <a:srgbClr val="0F172A"/>
                </a:solidFill>
              </a:defRPr>
            </a:pPr>
            <a:r>
              <a:t>Rather than relying on a standalone monolithic classifier, TRUST-SOC introduces a detect-then-verify multi-agent architecture. A Detection Agent proposes candidate alerts with feature explanations, while an independent Verification Agent scrutinizes the hypothesis using rules, baselines, anomaly checks, and semantic explainability before generating an evidence-backed report and dashboard alert.</a:t>
            </a:r>
          </a:p>
        </p:txBody>
      </p:sp>
      <p:sp>
        <p:nvSpPr>
          <p:cNvPr id="8" name="Rounded Rectangle 7"/>
          <p:cNvSpPr/>
          <p:nvPr/>
        </p:nvSpPr>
        <p:spPr>
          <a:xfrm>
            <a:off x="731520" y="2651760"/>
            <a:ext cx="251460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651760"/>
            <a:ext cx="2514600" cy="73152"/>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816352"/>
            <a:ext cx="2240280" cy="3291840"/>
          </a:xfrm>
          <a:prstGeom prst="rect">
            <a:avLst/>
          </a:prstGeom>
          <a:noFill/>
        </p:spPr>
        <p:txBody>
          <a:bodyPr wrap="square" lIns="0" tIns="0">
            <a:spAutoFit/>
          </a:bodyPr>
          <a:lstStyle/>
          <a:p>
            <a:pPr>
              <a:defRPr sz="1200" b="1">
                <a:solidFill>
                  <a:srgbClr val="0F172A"/>
                </a:solidFill>
              </a:defRPr>
            </a:pPr>
            <a:r>
              <a:t>Log-Analysis Detection Agent</a:t>
            </a:r>
          </a:p>
          <a:p>
            <a:pPr>
              <a:spcBef>
                <a:spcPts val="200"/>
              </a:spcBef>
              <a:defRPr sz="1000" b="1">
                <a:solidFill>
                  <a:srgbClr val="0284C7"/>
                </a:solidFill>
              </a:defRPr>
            </a:pPr>
            <a:r>
              <a:t>Proposes Hypotheses</a:t>
            </a:r>
          </a:p>
          <a:p>
            <a:pPr>
              <a:spcBef>
                <a:spcPts val="500"/>
              </a:spcBef>
              <a:defRPr sz="1000">
                <a:solidFill>
                  <a:srgbClr val="64748B"/>
                </a:solidFill>
              </a:defRPr>
            </a:pPr>
            <a:r>
              <a:t>• Ingests normalized network flows from benchmark datasets.</a:t>
            </a:r>
          </a:p>
          <a:p>
            <a:pPr>
              <a:spcBef>
                <a:spcPts val="500"/>
              </a:spcBef>
              <a:defRPr sz="1000">
                <a:solidFill>
                  <a:srgbClr val="64748B"/>
                </a:solidFill>
              </a:defRPr>
            </a:pPr>
            <a:r>
              <a:t>• Trained supervised ensemble (Random Forest / XGBoost).</a:t>
            </a:r>
          </a:p>
          <a:p>
            <a:pPr>
              <a:spcBef>
                <a:spcPts val="500"/>
              </a:spcBef>
              <a:defRPr sz="1000">
                <a:solidFill>
                  <a:srgbClr val="64748B"/>
                </a:solidFill>
              </a:defRPr>
            </a:pPr>
            <a:r>
              <a:t>• Outputs class label + raw probability p_d.</a:t>
            </a:r>
          </a:p>
          <a:p>
            <a:pPr>
              <a:spcBef>
                <a:spcPts val="500"/>
              </a:spcBef>
              <a:defRPr sz="1000">
                <a:solidFill>
                  <a:srgbClr val="64748B"/>
                </a:solidFill>
              </a:defRPr>
            </a:pPr>
            <a:r>
              <a:t>• Computes local SHAP feature attributions for transparency.</a:t>
            </a:r>
          </a:p>
        </p:txBody>
      </p:sp>
      <p:sp>
        <p:nvSpPr>
          <p:cNvPr id="11" name="Rounded Rectangle 10"/>
          <p:cNvSpPr/>
          <p:nvPr/>
        </p:nvSpPr>
        <p:spPr>
          <a:xfrm>
            <a:off x="3456432" y="2651760"/>
            <a:ext cx="251460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56432" y="2651760"/>
            <a:ext cx="2514600" cy="73152"/>
          </a:xfrm>
          <a:prstGeom prst="rect">
            <a:avLst/>
          </a:prstGeom>
          <a:solidFill>
            <a:srgbClr val="8B5CF6"/>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93592" y="2816352"/>
            <a:ext cx="2240280" cy="3291840"/>
          </a:xfrm>
          <a:prstGeom prst="rect">
            <a:avLst/>
          </a:prstGeom>
          <a:noFill/>
        </p:spPr>
        <p:txBody>
          <a:bodyPr wrap="square" lIns="0" tIns="0">
            <a:spAutoFit/>
          </a:bodyPr>
          <a:lstStyle/>
          <a:p>
            <a:pPr>
              <a:defRPr sz="1200" b="1">
                <a:solidFill>
                  <a:srgbClr val="0F172A"/>
                </a:solidFill>
              </a:defRPr>
            </a:pPr>
            <a:r>
              <a:t>Independent Verification Agent</a:t>
            </a:r>
          </a:p>
          <a:p>
            <a:pPr>
              <a:spcBef>
                <a:spcPts val="200"/>
              </a:spcBef>
              <a:defRPr sz="1000" b="1">
                <a:solidFill>
                  <a:srgbClr val="8B5CF6"/>
                </a:solidFill>
              </a:defRPr>
            </a:pPr>
            <a:r>
              <a:t>Scrutinizes &amp; Filters</a:t>
            </a:r>
          </a:p>
          <a:p>
            <a:pPr>
              <a:spcBef>
                <a:spcPts val="500"/>
              </a:spcBef>
              <a:defRPr sz="1000">
                <a:solidFill>
                  <a:srgbClr val="64748B"/>
                </a:solidFill>
              </a:defRPr>
            </a:pPr>
            <a:r>
              <a:t>• Acts as an independent adversarial critic.</a:t>
            </a:r>
          </a:p>
          <a:p>
            <a:pPr>
              <a:spcBef>
                <a:spcPts val="500"/>
              </a:spcBef>
              <a:defRPr sz="1000">
                <a:solidFill>
                  <a:srgbClr val="64748B"/>
                </a:solidFill>
              </a:defRPr>
            </a:pPr>
            <a:r>
              <a:t>• Evaluates 4 independent corroboration signals.</a:t>
            </a:r>
          </a:p>
          <a:p>
            <a:pPr>
              <a:spcBef>
                <a:spcPts val="500"/>
              </a:spcBef>
              <a:defRPr sz="1000">
                <a:solidFill>
                  <a:srgbClr val="64748B"/>
                </a:solidFill>
              </a:defRPr>
            </a:pPr>
            <a:r>
              <a:t>• Audits semantic consistency of top SHAP features.</a:t>
            </a:r>
          </a:p>
          <a:p>
            <a:pPr>
              <a:spcBef>
                <a:spcPts val="500"/>
              </a:spcBef>
              <a:defRPr sz="1000">
                <a:solidFill>
                  <a:srgbClr val="64748B"/>
                </a:solidFill>
              </a:defRPr>
            </a:pPr>
            <a:r>
              <a:t>• Issues CONFIRM, REDUCE, or REJECT decisions.</a:t>
            </a:r>
          </a:p>
        </p:txBody>
      </p:sp>
      <p:sp>
        <p:nvSpPr>
          <p:cNvPr id="14" name="Rounded Rectangle 13"/>
          <p:cNvSpPr/>
          <p:nvPr/>
        </p:nvSpPr>
        <p:spPr>
          <a:xfrm>
            <a:off x="6181344" y="2651760"/>
            <a:ext cx="251460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81344" y="2651760"/>
            <a:ext cx="25146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18504" y="2816352"/>
            <a:ext cx="2240280" cy="3291840"/>
          </a:xfrm>
          <a:prstGeom prst="rect">
            <a:avLst/>
          </a:prstGeom>
          <a:noFill/>
        </p:spPr>
        <p:txBody>
          <a:bodyPr wrap="square" lIns="0" tIns="0">
            <a:spAutoFit/>
          </a:bodyPr>
          <a:lstStyle/>
          <a:p>
            <a:pPr>
              <a:defRPr sz="1200" b="1">
                <a:solidFill>
                  <a:srgbClr val="0F172A"/>
                </a:solidFill>
              </a:defRPr>
            </a:pPr>
            <a:r>
              <a:t>Confidence Scoring Engine</a:t>
            </a:r>
          </a:p>
          <a:p>
            <a:pPr>
              <a:spcBef>
                <a:spcPts val="200"/>
              </a:spcBef>
              <a:defRPr sz="1000" b="1">
                <a:solidFill>
                  <a:srgbClr val="F59E0B"/>
                </a:solidFill>
              </a:defRPr>
            </a:pPr>
            <a:r>
              <a:t>Stratifies Priority</a:t>
            </a:r>
          </a:p>
          <a:p>
            <a:pPr>
              <a:spcBef>
                <a:spcPts val="500"/>
              </a:spcBef>
              <a:defRPr sz="1000">
                <a:solidFill>
                  <a:srgbClr val="64748B"/>
                </a:solidFill>
              </a:defRPr>
            </a:pPr>
            <a:r>
              <a:t>• Fuses detection probability &amp; verification agreement.</a:t>
            </a:r>
          </a:p>
          <a:p>
            <a:pPr>
              <a:spcBef>
                <a:spcPts val="500"/>
              </a:spcBef>
              <a:defRPr sz="1000">
                <a:solidFill>
                  <a:srgbClr val="64748B"/>
                </a:solidFill>
              </a:defRPr>
            </a:pPr>
            <a:r>
              <a:t>• Computes C = α·p_d + β·p_v + γ·r_corr.</a:t>
            </a:r>
          </a:p>
          <a:p>
            <a:pPr>
              <a:spcBef>
                <a:spcPts val="500"/>
              </a:spcBef>
              <a:defRPr sz="1000">
                <a:solidFill>
                  <a:srgbClr val="64748B"/>
                </a:solidFill>
              </a:defRPr>
            </a:pPr>
            <a:r>
              <a:t>• Maps scores into High, Medium, Low severity bands.</a:t>
            </a:r>
          </a:p>
          <a:p>
            <a:pPr>
              <a:spcBef>
                <a:spcPts val="500"/>
              </a:spcBef>
              <a:defRPr sz="1000">
                <a:solidFill>
                  <a:srgbClr val="64748B"/>
                </a:solidFill>
              </a:defRPr>
            </a:pPr>
            <a:r>
              <a:t>• Enables prioritized queue management for SOC analysts.</a:t>
            </a:r>
          </a:p>
        </p:txBody>
      </p:sp>
      <p:sp>
        <p:nvSpPr>
          <p:cNvPr id="17" name="Rounded Rectangle 16"/>
          <p:cNvSpPr/>
          <p:nvPr/>
        </p:nvSpPr>
        <p:spPr>
          <a:xfrm>
            <a:off x="8906256" y="2651760"/>
            <a:ext cx="251460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06256" y="2651760"/>
            <a:ext cx="2514600" cy="73152"/>
          </a:xfrm>
          <a:prstGeom prst="rect">
            <a:avLst/>
          </a:prstGeom>
          <a:solidFill>
            <a:srgbClr val="10B981"/>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43416" y="2816352"/>
            <a:ext cx="2240280" cy="3291840"/>
          </a:xfrm>
          <a:prstGeom prst="rect">
            <a:avLst/>
          </a:prstGeom>
          <a:noFill/>
        </p:spPr>
        <p:txBody>
          <a:bodyPr wrap="square" lIns="0" tIns="0">
            <a:spAutoFit/>
          </a:bodyPr>
          <a:lstStyle/>
          <a:p>
            <a:pPr>
              <a:defRPr sz="1200" b="1">
                <a:solidFill>
                  <a:srgbClr val="0F172A"/>
                </a:solidFill>
              </a:defRPr>
            </a:pPr>
            <a:r>
              <a:t>Evidence-Linked SOC Dashboard</a:t>
            </a:r>
          </a:p>
          <a:p>
            <a:pPr>
              <a:spcBef>
                <a:spcPts val="200"/>
              </a:spcBef>
              <a:defRPr sz="1000" b="1">
                <a:solidFill>
                  <a:srgbClr val="10B981"/>
                </a:solidFill>
              </a:defRPr>
            </a:pPr>
            <a:r>
              <a:t>Actionable Triage</a:t>
            </a:r>
          </a:p>
          <a:p>
            <a:pPr>
              <a:spcBef>
                <a:spcPts val="500"/>
              </a:spcBef>
              <a:defRPr sz="1000">
                <a:solidFill>
                  <a:srgbClr val="64748B"/>
                </a:solidFill>
              </a:defRPr>
            </a:pPr>
            <a:r>
              <a:t>• Real-time stream feed colour-coded by confidence.</a:t>
            </a:r>
          </a:p>
          <a:p>
            <a:pPr>
              <a:spcBef>
                <a:spcPts val="500"/>
              </a:spcBef>
              <a:defRPr sz="1000">
                <a:solidFill>
                  <a:srgbClr val="64748B"/>
                </a:solidFill>
              </a:defRPr>
            </a:pPr>
            <a:r>
              <a:t>• Full JSON &amp; PDF evidence report per alert.</a:t>
            </a:r>
          </a:p>
          <a:p>
            <a:pPr>
              <a:spcBef>
                <a:spcPts val="500"/>
              </a:spcBef>
              <a:defRPr sz="1000">
                <a:solidFill>
                  <a:srgbClr val="64748B"/>
                </a:solidFill>
              </a:defRPr>
            </a:pPr>
            <a:r>
              <a:t>• Traceable link: Raw flow → Features → SHAP → Decision.</a:t>
            </a:r>
          </a:p>
          <a:p>
            <a:pPr>
              <a:spcBef>
                <a:spcPts val="500"/>
              </a:spcBef>
              <a:defRPr sz="1000">
                <a:solidFill>
                  <a:srgbClr val="64748B"/>
                </a:solidFill>
              </a:defRPr>
            </a:pPr>
            <a:r>
              <a:t>• Interactive filters, drill-downs, and attack analytics.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TRUST-SOC | MICRO PROJECT PRESENTATION</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Literature Survey: ML Intrusion Detection &amp; Benchmark Datasets</a:t>
            </a:r>
          </a:p>
        </p:txBody>
      </p:sp>
      <p:sp>
        <p:nvSpPr>
          <p:cNvPr id="5" name="Rectangle 4"/>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4846320" cy="2057400"/>
          </a:xfrm>
          <a:prstGeom prst="rect">
            <a:avLst/>
          </a:prstGeom>
          <a:noFill/>
        </p:spPr>
        <p:txBody>
          <a:bodyPr wrap="square" lIns="0" tIns="0">
            <a:spAutoFit/>
          </a:bodyPr>
          <a:lstStyle/>
          <a:p>
            <a:pPr>
              <a:defRPr sz="1250" b="1">
                <a:solidFill>
                  <a:srgbClr val="0284C7"/>
                </a:solidFill>
              </a:defRPr>
            </a:pPr>
            <a:r>
              <a:t>Buczak &amp; Guven (IEEE COMST 2016)</a:t>
            </a:r>
          </a:p>
          <a:p>
            <a:pPr>
              <a:spcBef>
                <a:spcPts val="200"/>
              </a:spcBef>
              <a:defRPr sz="1000" i="1">
                <a:solidFill>
                  <a:srgbClr val="0F172A"/>
                </a:solidFill>
              </a:defRPr>
            </a:pPr>
            <a:r>
              <a:t>Survey of Data Mining &amp; ML Methods for Cybersecurity Intrusion Detection</a:t>
            </a:r>
          </a:p>
          <a:p>
            <a:pPr>
              <a:spcBef>
                <a:spcPts val="300"/>
              </a:spcBef>
              <a:defRPr sz="950">
                <a:solidFill>
                  <a:srgbClr val="64748B"/>
                </a:solidFill>
              </a:defRPr>
            </a:pPr>
            <a:r>
              <a:t>• Comprehensive taxonomy of classical ML algorithms (Decision Trees, SVM, Naïve Bayes, Clustering) applied to network intrusion detection.</a:t>
            </a:r>
          </a:p>
          <a:p>
            <a:pPr>
              <a:spcBef>
                <a:spcPts val="300"/>
              </a:spcBef>
              <a:defRPr sz="950">
                <a:solidFill>
                  <a:srgbClr val="64748B"/>
                </a:solidFill>
              </a:defRPr>
            </a:pPr>
            <a:r>
              <a:t>• Key Finding: High benchmark accuracy does NOT equate to real-world deployment viability; identified false positive rate (FPR) as primary operational bottleneck.</a:t>
            </a:r>
          </a:p>
          <a:p>
            <a:pPr>
              <a:spcBef>
                <a:spcPts val="300"/>
              </a:spcBef>
              <a:defRPr sz="950">
                <a:solidFill>
                  <a:srgbClr val="64748B"/>
                </a:solidFill>
              </a:defRPr>
            </a:pPr>
            <a:r>
              <a:t>• Relevance: Confirms the foundational premise that single classifiers on benchmark data cannot be safely trusted for autonomous triage.</a:t>
            </a:r>
          </a:p>
        </p:txBody>
      </p:sp>
      <p:sp>
        <p:nvSpPr>
          <p:cNvPr id="8" name="Rounded Rectangle 7"/>
          <p:cNvSpPr/>
          <p:nvPr/>
        </p:nvSpPr>
        <p:spPr>
          <a:xfrm>
            <a:off x="6217920" y="1463040"/>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2057400"/>
          </a:xfrm>
          <a:prstGeom prst="rect">
            <a:avLst/>
          </a:prstGeom>
          <a:noFill/>
        </p:spPr>
        <p:txBody>
          <a:bodyPr wrap="square" lIns="0" tIns="0">
            <a:spAutoFit/>
          </a:bodyPr>
          <a:lstStyle/>
          <a:p>
            <a:pPr>
              <a:defRPr sz="1250" b="1">
                <a:solidFill>
                  <a:srgbClr val="0284C7"/>
                </a:solidFill>
              </a:defRPr>
            </a:pPr>
            <a:r>
              <a:t>Khraisat et al. (Cybersecurity 2019)</a:t>
            </a:r>
          </a:p>
          <a:p>
            <a:pPr>
              <a:spcBef>
                <a:spcPts val="200"/>
              </a:spcBef>
              <a:defRPr sz="1000" i="1">
                <a:solidFill>
                  <a:srgbClr val="0F172A"/>
                </a:solidFill>
              </a:defRPr>
            </a:pPr>
            <a:r>
              <a:t>Survey of Intrusion Detection Systems: Techniques, Datasets and Challenges</a:t>
            </a:r>
          </a:p>
          <a:p>
            <a:pPr>
              <a:spcBef>
                <a:spcPts val="300"/>
              </a:spcBef>
              <a:defRPr sz="950">
                <a:solidFill>
                  <a:srgbClr val="64748B"/>
                </a:solidFill>
              </a:defRPr>
            </a:pPr>
            <a:r>
              <a:t>• Examines evolution of signature vs. anomaly-based IDS, current datasets, and persistent operational challenges.</a:t>
            </a:r>
          </a:p>
          <a:p>
            <a:pPr>
              <a:spcBef>
                <a:spcPts val="300"/>
              </a:spcBef>
              <a:defRPr sz="950">
                <a:solidFill>
                  <a:srgbClr val="64748B"/>
                </a:solidFill>
              </a:defRPr>
            </a:pPr>
            <a:r>
              <a:t>• Key Finding: Evolving attack diversity, dataset quality, and unacceptably high false alarm rates remain major unresolved issues in modern IDS.</a:t>
            </a:r>
          </a:p>
          <a:p>
            <a:pPr>
              <a:spcBef>
                <a:spcPts val="300"/>
              </a:spcBef>
              <a:defRPr sz="950">
                <a:solidFill>
                  <a:srgbClr val="64748B"/>
                </a:solidFill>
              </a:defRPr>
            </a:pPr>
            <a:r>
              <a:t>• Relevance: Directly motivates TRUST-SOC's independent verification layer as an operational mechanism to filter false alarms.</a:t>
            </a:r>
          </a:p>
        </p:txBody>
      </p:sp>
      <p:sp>
        <p:nvSpPr>
          <p:cNvPr id="10" name="Rounded Rectangle 9"/>
          <p:cNvSpPr/>
          <p:nvPr/>
        </p:nvSpPr>
        <p:spPr>
          <a:xfrm>
            <a:off x="731520" y="4023360"/>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0520"/>
            <a:ext cx="4846320" cy="2057400"/>
          </a:xfrm>
          <a:prstGeom prst="rect">
            <a:avLst/>
          </a:prstGeom>
          <a:noFill/>
        </p:spPr>
        <p:txBody>
          <a:bodyPr wrap="square" lIns="0" tIns="0">
            <a:spAutoFit/>
          </a:bodyPr>
          <a:lstStyle/>
          <a:p>
            <a:pPr>
              <a:defRPr sz="1250" b="1">
                <a:solidFill>
                  <a:srgbClr val="0284C7"/>
                </a:solidFill>
              </a:defRPr>
            </a:pPr>
            <a:r>
              <a:t>Sharafaldin, Lashkari &amp; Ghorbani (ICISSP 2018)</a:t>
            </a:r>
          </a:p>
          <a:p>
            <a:pPr>
              <a:spcBef>
                <a:spcPts val="200"/>
              </a:spcBef>
              <a:defRPr sz="1000" i="1">
                <a:solidFill>
                  <a:srgbClr val="0F172A"/>
                </a:solidFill>
              </a:defRPr>
            </a:pPr>
            <a:r>
              <a:t>Toward Generating a New Intrusion Detection Dataset (CICIDS2017 &amp; CSE-CIC-IDS2018)</a:t>
            </a:r>
          </a:p>
          <a:p>
            <a:pPr>
              <a:spcBef>
                <a:spcPts val="300"/>
              </a:spcBef>
              <a:defRPr sz="950">
                <a:solidFill>
                  <a:srgbClr val="64748B"/>
                </a:solidFill>
              </a:defRPr>
            </a:pPr>
            <a:r>
              <a:t>• Introduced CICIDS2017 to overcome staleness of KDD'99/NSL-KDD; includes 5 days of realistic benign traffic alongside 11 contemporary attack categories.</a:t>
            </a:r>
          </a:p>
          <a:p>
            <a:pPr>
              <a:spcBef>
                <a:spcPts val="300"/>
              </a:spcBef>
              <a:defRPr sz="950">
                <a:solidFill>
                  <a:srgbClr val="64748B"/>
                </a:solidFill>
              </a:defRPr>
            </a:pPr>
            <a:r>
              <a:t>• Scaled up to CSE-CIC-IDS2018 (AWS enterprise emulation, 450 machines, 10 days, 80+ CICFlowMeter network flow features).</a:t>
            </a:r>
          </a:p>
          <a:p>
            <a:pPr>
              <a:spcBef>
                <a:spcPts val="300"/>
              </a:spcBef>
              <a:defRPr sz="950">
                <a:solidFill>
                  <a:srgbClr val="64748B"/>
                </a:solidFill>
              </a:defRPr>
            </a:pPr>
            <a:r>
              <a:t>• Relevance: Selected as our primary (CICIDS2017) and cross-validation (CSE-CIC-IDS2018) datasets for training and testing TRUST-SOC.</a:t>
            </a:r>
          </a:p>
        </p:txBody>
      </p:sp>
      <p:sp>
        <p:nvSpPr>
          <p:cNvPr id="12" name="Rounded Rectangle 11"/>
          <p:cNvSpPr/>
          <p:nvPr/>
        </p:nvSpPr>
        <p:spPr>
          <a:xfrm>
            <a:off x="6217920" y="4023360"/>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160520"/>
            <a:ext cx="4846320" cy="2057400"/>
          </a:xfrm>
          <a:prstGeom prst="rect">
            <a:avLst/>
          </a:prstGeom>
          <a:noFill/>
        </p:spPr>
        <p:txBody>
          <a:bodyPr wrap="square" lIns="0" tIns="0">
            <a:spAutoFit/>
          </a:bodyPr>
          <a:lstStyle/>
          <a:p>
            <a:pPr>
              <a:defRPr sz="1250" b="1">
                <a:solidFill>
                  <a:srgbClr val="0284C7"/>
                </a:solidFill>
              </a:defRPr>
            </a:pPr>
            <a:r>
              <a:t>Panigrahi &amp; Borah (IJET 2018)</a:t>
            </a:r>
          </a:p>
          <a:p>
            <a:pPr>
              <a:spcBef>
                <a:spcPts val="200"/>
              </a:spcBef>
              <a:defRPr sz="1000" i="1">
                <a:solidFill>
                  <a:srgbClr val="0F172A"/>
                </a:solidFill>
              </a:defRPr>
            </a:pPr>
            <a:r>
              <a:t>A Detailed Analysis of CICIDS2017 Dataset for Designing Intrusion Detection Systems</a:t>
            </a:r>
          </a:p>
          <a:p>
            <a:pPr>
              <a:spcBef>
                <a:spcPts val="300"/>
              </a:spcBef>
              <a:defRPr sz="950">
                <a:solidFill>
                  <a:srgbClr val="64748B"/>
                </a:solidFill>
              </a:defRPr>
            </a:pPr>
            <a:r>
              <a:t>• Rigorous empirical audit of CICIDS2017 identifying label inconsistencies, missing values, infinite packet metrics, and severe class skews.</a:t>
            </a:r>
          </a:p>
          <a:p>
            <a:pPr>
              <a:spcBef>
                <a:spcPts val="300"/>
              </a:spcBef>
              <a:defRPr sz="950">
                <a:solidFill>
                  <a:srgbClr val="64748B"/>
                </a:solidFill>
              </a:defRPr>
            </a:pPr>
            <a:r>
              <a:t>• Key Finding: Classifiers trained uncritically suffer from inflated performance metrics and fail to generalize on actual traffic.</a:t>
            </a:r>
          </a:p>
          <a:p>
            <a:pPr>
              <a:spcBef>
                <a:spcPts val="300"/>
              </a:spcBef>
              <a:defRPr sz="950">
                <a:solidFill>
                  <a:srgbClr val="64748B"/>
                </a:solidFill>
              </a:defRPr>
            </a:pPr>
            <a:r>
              <a:t>• Relevance: Directly guides our dataset preprocessing pipeline and proves why a raw classifier output must never be taken as a final verdict.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TRUST-SOC | MICRO PROJECT PRESENTATION</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Literature Survey: Explainable AI &amp; Multi-Agent Triage</a:t>
            </a:r>
          </a:p>
        </p:txBody>
      </p:sp>
      <p:sp>
        <p:nvSpPr>
          <p:cNvPr id="5" name="Rectangle 4"/>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4846320" cy="2057400"/>
          </a:xfrm>
          <a:prstGeom prst="rect">
            <a:avLst/>
          </a:prstGeom>
          <a:noFill/>
        </p:spPr>
        <p:txBody>
          <a:bodyPr wrap="square" lIns="0" tIns="0">
            <a:spAutoFit/>
          </a:bodyPr>
          <a:lstStyle/>
          <a:p>
            <a:pPr>
              <a:defRPr sz="1250" b="1">
                <a:solidFill>
                  <a:srgbClr val="8B5CF6"/>
                </a:solidFill>
              </a:defRPr>
            </a:pPr>
            <a:r>
              <a:t>Lundberg &amp; Lee (NeurIPS 2017)</a:t>
            </a:r>
          </a:p>
          <a:p>
            <a:pPr>
              <a:spcBef>
                <a:spcPts val="200"/>
              </a:spcBef>
              <a:defRPr sz="1000" i="1">
                <a:solidFill>
                  <a:srgbClr val="0F172A"/>
                </a:solidFill>
              </a:defRPr>
            </a:pPr>
            <a:r>
              <a:t>A Unified Approach to Interpreting Model Predictions (SHAP)</a:t>
            </a:r>
          </a:p>
          <a:p>
            <a:pPr>
              <a:spcBef>
                <a:spcPts val="300"/>
              </a:spcBef>
              <a:defRPr sz="950">
                <a:solidFill>
                  <a:srgbClr val="64748B"/>
                </a:solidFill>
              </a:defRPr>
            </a:pPr>
            <a:r>
              <a:t>• Introduced SHAP (SHapley Additive exPlanations), assigning theoretically grounded local feature attributions rooted in cooperative game theory.</a:t>
            </a:r>
          </a:p>
          <a:p>
            <a:pPr>
              <a:spcBef>
                <a:spcPts val="300"/>
              </a:spcBef>
              <a:defRPr sz="950">
                <a:solidFill>
                  <a:srgbClr val="64748B"/>
                </a:solidFill>
              </a:defRPr>
            </a:pPr>
            <a:r>
              <a:t>• TreeSHAP enables exact, polynomial-time feature attribution for ensemble tree models (Random Forest, XGBoost).</a:t>
            </a:r>
          </a:p>
          <a:p>
            <a:pPr>
              <a:spcBef>
                <a:spcPts val="300"/>
              </a:spcBef>
              <a:defRPr sz="950">
                <a:solidFill>
                  <a:srgbClr val="64748B"/>
                </a:solidFill>
              </a:defRPr>
            </a:pPr>
            <a:r>
              <a:t>• Relevance: Provides the mathematical engine for TRUST-SOC's Detection Agent explanations and Verification Agent consistency checks.</a:t>
            </a:r>
          </a:p>
        </p:txBody>
      </p:sp>
      <p:sp>
        <p:nvSpPr>
          <p:cNvPr id="8" name="Rounded Rectangle 7"/>
          <p:cNvSpPr/>
          <p:nvPr/>
        </p:nvSpPr>
        <p:spPr>
          <a:xfrm>
            <a:off x="6217920" y="1463040"/>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2057400"/>
          </a:xfrm>
          <a:prstGeom prst="rect">
            <a:avLst/>
          </a:prstGeom>
          <a:noFill/>
        </p:spPr>
        <p:txBody>
          <a:bodyPr wrap="square" lIns="0" tIns="0">
            <a:spAutoFit/>
          </a:bodyPr>
          <a:lstStyle/>
          <a:p>
            <a:pPr>
              <a:defRPr sz="1250" b="1">
                <a:solidFill>
                  <a:srgbClr val="8B5CF6"/>
                </a:solidFill>
              </a:defRPr>
            </a:pPr>
            <a:r>
              <a:t>Wang et al. (IEEE Access 2020)</a:t>
            </a:r>
          </a:p>
          <a:p>
            <a:pPr>
              <a:spcBef>
                <a:spcPts val="200"/>
              </a:spcBef>
              <a:defRPr sz="1000" i="1">
                <a:solidFill>
                  <a:srgbClr val="0F172A"/>
                </a:solidFill>
              </a:defRPr>
            </a:pPr>
            <a:r>
              <a:t>An Explainable Machine Learning Framework for Intrusion Detection Systems</a:t>
            </a:r>
          </a:p>
          <a:p>
            <a:pPr>
              <a:spcBef>
                <a:spcPts val="300"/>
              </a:spcBef>
              <a:defRPr sz="950">
                <a:solidFill>
                  <a:srgbClr val="64748B"/>
                </a:solidFill>
              </a:defRPr>
            </a:pPr>
            <a:r>
              <a:t>• Evaluated SHAP and LIME feature-attribution frameworks specifically applied to network intrusion detection classifiers.</a:t>
            </a:r>
          </a:p>
          <a:p>
            <a:pPr>
              <a:spcBef>
                <a:spcPts val="300"/>
              </a:spcBef>
              <a:defRPr sz="950">
                <a:solidFill>
                  <a:srgbClr val="64748B"/>
                </a:solidFill>
              </a:defRPr>
            </a:pPr>
            <a:r>
              <a:t>• Key Finding: Attaching feature-level rationales materially improves human analysts' ability to judge alert veracity and calibrated trust.</a:t>
            </a:r>
          </a:p>
          <a:p>
            <a:pPr>
              <a:spcBef>
                <a:spcPts val="300"/>
              </a:spcBef>
              <a:defRPr sz="950">
                <a:solidFill>
                  <a:srgbClr val="64748B"/>
                </a:solidFill>
              </a:defRPr>
            </a:pPr>
            <a:r>
              <a:t>• Relevance: TRUST-SOC operationalizes this insight programmatically—using SHAP rankings as an automated verification signal.</a:t>
            </a:r>
          </a:p>
        </p:txBody>
      </p:sp>
      <p:sp>
        <p:nvSpPr>
          <p:cNvPr id="10" name="Rounded Rectangle 9"/>
          <p:cNvSpPr/>
          <p:nvPr/>
        </p:nvSpPr>
        <p:spPr>
          <a:xfrm>
            <a:off x="731520" y="4023360"/>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0520"/>
            <a:ext cx="4846320" cy="2057400"/>
          </a:xfrm>
          <a:prstGeom prst="rect">
            <a:avLst/>
          </a:prstGeom>
          <a:noFill/>
        </p:spPr>
        <p:txBody>
          <a:bodyPr wrap="square" lIns="0" tIns="0">
            <a:spAutoFit/>
          </a:bodyPr>
          <a:lstStyle/>
          <a:p>
            <a:pPr>
              <a:defRPr sz="1250" b="1">
                <a:solidFill>
                  <a:srgbClr val="8B5CF6"/>
                </a:solidFill>
              </a:defRPr>
            </a:pPr>
            <a:r>
              <a:t>Wei et al. (arXiv 2025) — CORTEX</a:t>
            </a:r>
          </a:p>
          <a:p>
            <a:pPr>
              <a:spcBef>
                <a:spcPts val="200"/>
              </a:spcBef>
              <a:defRPr sz="1000" i="1">
                <a:solidFill>
                  <a:srgbClr val="0F172A"/>
                </a:solidFill>
              </a:defRPr>
            </a:pPr>
            <a:r>
              <a:t>Collaborative LLM Agents for High-Stakes Alert Triage</a:t>
            </a:r>
          </a:p>
          <a:p>
            <a:pPr>
              <a:spcBef>
                <a:spcPts val="300"/>
              </a:spcBef>
              <a:defRPr sz="950">
                <a:solidFill>
                  <a:srgbClr val="64748B"/>
                </a:solidFill>
              </a:defRPr>
            </a:pPr>
            <a:r>
              <a:t>• Multi-agent LLM system decomposing triage across specialized agents: behavior analysis, evidence gathering, and final reasoning.</a:t>
            </a:r>
          </a:p>
          <a:p>
            <a:pPr>
              <a:spcBef>
                <a:spcPts val="300"/>
              </a:spcBef>
              <a:defRPr sz="950">
                <a:solidFill>
                  <a:srgbClr val="64748B"/>
                </a:solidFill>
              </a:defRPr>
            </a:pPr>
            <a:r>
              <a:t>• Demonstrated substantial false-positive reduction and superior investigation quality over monolithic models in production SOCs.</a:t>
            </a:r>
          </a:p>
          <a:p>
            <a:pPr>
              <a:spcBef>
                <a:spcPts val="300"/>
              </a:spcBef>
              <a:defRPr sz="950">
                <a:solidFill>
                  <a:srgbClr val="64748B"/>
                </a:solidFill>
              </a:defRPr>
            </a:pPr>
            <a:r>
              <a:t>• Relevance: Architectural precedent validating that separating detection from independent verification drastically cuts false alarms.</a:t>
            </a:r>
          </a:p>
        </p:txBody>
      </p:sp>
      <p:sp>
        <p:nvSpPr>
          <p:cNvPr id="12" name="Rounded Rectangle 11"/>
          <p:cNvSpPr/>
          <p:nvPr/>
        </p:nvSpPr>
        <p:spPr>
          <a:xfrm>
            <a:off x="6217920" y="4023360"/>
            <a:ext cx="521208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160520"/>
            <a:ext cx="4846320" cy="2057400"/>
          </a:xfrm>
          <a:prstGeom prst="rect">
            <a:avLst/>
          </a:prstGeom>
          <a:noFill/>
        </p:spPr>
        <p:txBody>
          <a:bodyPr wrap="square" lIns="0" tIns="0">
            <a:spAutoFit/>
          </a:bodyPr>
          <a:lstStyle/>
          <a:p>
            <a:pPr>
              <a:defRPr sz="1250" b="1">
                <a:solidFill>
                  <a:srgbClr val="8B5CF6"/>
                </a:solidFill>
              </a:defRPr>
            </a:pPr>
            <a:r>
              <a:t>Ameen et al. (2026) &amp; AI-SOC Surveys</a:t>
            </a:r>
          </a:p>
          <a:p>
            <a:pPr>
              <a:spcBef>
                <a:spcPts val="200"/>
              </a:spcBef>
              <a:defRPr sz="1000" i="1">
                <a:solidFill>
                  <a:srgbClr val="0F172A"/>
                </a:solidFill>
              </a:defRPr>
            </a:pPr>
            <a:r>
              <a:t>QASecClaw: Multi-Agent FP Reduction &amp; AI-Augmented SOC Surveys</a:t>
            </a:r>
          </a:p>
          <a:p>
            <a:pPr>
              <a:spcBef>
                <a:spcPts val="300"/>
              </a:spcBef>
              <a:defRPr sz="950">
                <a:solidFill>
                  <a:srgbClr val="64748B"/>
                </a:solidFill>
              </a:defRPr>
            </a:pPr>
            <a:r>
              <a:t>• QASecClaw demonstrated an 88.6% false-positive reduction in security testing via dedicated Validation and Evidence-Correlation agents.</a:t>
            </a:r>
          </a:p>
          <a:p>
            <a:pPr>
              <a:spcBef>
                <a:spcPts val="300"/>
              </a:spcBef>
              <a:defRPr sz="950">
                <a:solidFill>
                  <a:srgbClr val="64748B"/>
                </a:solidFill>
              </a:defRPr>
            </a:pPr>
            <a:r>
              <a:t>• Surveys (Big Data Cogn. Comput. 2025) report multi-agent triage achieves ~40% FP reduction in enterprise threat detection.</a:t>
            </a:r>
          </a:p>
          <a:p>
            <a:pPr>
              <a:spcBef>
                <a:spcPts val="300"/>
              </a:spcBef>
              <a:defRPr sz="950">
                <a:solidFill>
                  <a:srgbClr val="64748B"/>
                </a:solidFill>
              </a:defRPr>
            </a:pPr>
            <a:r>
              <a:t>• Relevance: Demonstrates the power of detect-then-verify while highlighting the urgent need for lightweight, reproducible alternatives.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TRUST-SOC | MICRO PROJECT PRESENTATION</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Literature Survey: Summary &amp; Comparative Synthesis Matrix</a:t>
            </a:r>
          </a:p>
        </p:txBody>
      </p:sp>
      <p:sp>
        <p:nvSpPr>
          <p:cNvPr id="5" name="Rectangle 4"/>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417320"/>
          <a:ext cx="10728655" cy="4846320"/>
        </p:xfrm>
        <a:graphic>
          <a:graphicData uri="http://schemas.openxmlformats.org/drawingml/2006/table">
            <a:tbl>
              <a:tblPr firstRow="1" bandRow="1">
                <a:tableStyleId>{5C22544A-7EE6-4342-B048-85BDC9FD1C3A}</a:tableStyleId>
              </a:tblPr>
              <a:tblGrid>
                <a:gridCol w="1645920"/>
                <a:gridCol w="1920240"/>
                <a:gridCol w="2651760"/>
                <a:gridCol w="2194560"/>
                <a:gridCol w="2316175"/>
              </a:tblGrid>
              <a:tr h="807720">
                <a:tc>
                  <a:txBody>
                    <a:bodyPr/>
                    <a:lstStyle/>
                    <a:p>
                      <a:pPr algn="l">
                        <a:defRPr sz="1050" b="1">
                          <a:solidFill>
                            <a:srgbClr val="FFFFFF"/>
                          </a:solidFill>
                        </a:defRPr>
                      </a:pPr>
                      <a:r>
                        <a:t>Reference</a:t>
                      </a:r>
                    </a:p>
                  </a:txBody>
                  <a:tcPr>
                    <a:solidFill>
                      <a:srgbClr val="0B132B"/>
                    </a:solidFill>
                  </a:tcPr>
                </a:tc>
                <a:tc>
                  <a:txBody>
                    <a:bodyPr/>
                    <a:lstStyle/>
                    <a:p>
                      <a:pPr algn="l">
                        <a:defRPr sz="1050" b="1">
                          <a:solidFill>
                            <a:srgbClr val="FFFFFF"/>
                          </a:solidFill>
                        </a:defRPr>
                      </a:pPr>
                      <a:r>
                        <a:t>Domain / Focus</a:t>
                      </a:r>
                    </a:p>
                  </a:txBody>
                  <a:tcPr>
                    <a:solidFill>
                      <a:srgbClr val="0B132B"/>
                    </a:solidFill>
                  </a:tcPr>
                </a:tc>
                <a:tc>
                  <a:txBody>
                    <a:bodyPr/>
                    <a:lstStyle/>
                    <a:p>
                      <a:pPr algn="l">
                        <a:defRPr sz="1050" b="1">
                          <a:solidFill>
                            <a:srgbClr val="FFFFFF"/>
                          </a:solidFill>
                        </a:defRPr>
                      </a:pPr>
                      <a:r>
                        <a:t>Key Contribution</a:t>
                      </a:r>
                    </a:p>
                  </a:txBody>
                  <a:tcPr>
                    <a:solidFill>
                      <a:srgbClr val="0B132B"/>
                    </a:solidFill>
                  </a:tcPr>
                </a:tc>
                <a:tc>
                  <a:txBody>
                    <a:bodyPr/>
                    <a:lstStyle/>
                    <a:p>
                      <a:pPr algn="l">
                        <a:defRPr sz="1050" b="1">
                          <a:solidFill>
                            <a:srgbClr val="FFFFFF"/>
                          </a:solidFill>
                        </a:defRPr>
                      </a:pPr>
                      <a:r>
                        <a:t>Identified Gap / Limitation</a:t>
                      </a:r>
                    </a:p>
                  </a:txBody>
                  <a:tcPr>
                    <a:solidFill>
                      <a:srgbClr val="0B132B"/>
                    </a:solidFill>
                  </a:tcPr>
                </a:tc>
                <a:tc>
                  <a:txBody>
                    <a:bodyPr/>
                    <a:lstStyle/>
                    <a:p>
                      <a:pPr algn="l">
                        <a:defRPr sz="1050" b="1">
                          <a:solidFill>
                            <a:srgbClr val="FFFFFF"/>
                          </a:solidFill>
                        </a:defRPr>
                      </a:pPr>
                      <a:r>
                        <a:t>Relevance to TRUST-SOC</a:t>
                      </a:r>
                    </a:p>
                  </a:txBody>
                  <a:tcPr>
                    <a:solidFill>
                      <a:srgbClr val="0B132B"/>
                    </a:solidFill>
                  </a:tcPr>
                </a:tc>
              </a:tr>
              <a:tr h="807720">
                <a:tc>
                  <a:txBody>
                    <a:bodyPr/>
                    <a:lstStyle/>
                    <a:p>
                      <a:pPr algn="l">
                        <a:defRPr sz="950" b="1">
                          <a:solidFill>
                            <a:srgbClr val="0284C7"/>
                          </a:solidFill>
                        </a:defRPr>
                      </a:pPr>
                      <a:r>
                        <a:t>[1][2] Sharafaldin et al. (2018)</a:t>
                      </a:r>
                    </a:p>
                  </a:txBody>
                  <a:tcPr>
                    <a:solidFill>
                      <a:srgbClr val="FFFFFF"/>
                    </a:solidFill>
                  </a:tcPr>
                </a:tc>
                <a:tc>
                  <a:txBody>
                    <a:bodyPr/>
                    <a:lstStyle/>
                    <a:p>
                      <a:pPr algn="l">
                        <a:defRPr sz="950">
                          <a:solidFill>
                            <a:srgbClr val="0F172A"/>
                          </a:solidFill>
                        </a:defRPr>
                      </a:pPr>
                      <a:r>
                        <a:t>CICIDS2017 &amp; CSE-CIC-IDS2018</a:t>
                      </a:r>
                    </a:p>
                  </a:txBody>
                  <a:tcPr>
                    <a:solidFill>
                      <a:srgbClr val="FFFFFF"/>
                    </a:solidFill>
                  </a:tcPr>
                </a:tc>
                <a:tc>
                  <a:txBody>
                    <a:bodyPr/>
                    <a:lstStyle/>
                    <a:p>
                      <a:pPr algn="l">
                        <a:defRPr sz="950">
                          <a:solidFill>
                            <a:srgbClr val="0F172A"/>
                          </a:solidFill>
                        </a:defRPr>
                      </a:pPr>
                      <a:r>
                        <a:t>Realistic modern attack &amp; benign traffic with 80+ network flow features.</a:t>
                      </a:r>
                    </a:p>
                  </a:txBody>
                  <a:tcPr>
                    <a:solidFill>
                      <a:srgbClr val="FFFFFF"/>
                    </a:solidFill>
                  </a:tcPr>
                </a:tc>
                <a:tc>
                  <a:txBody>
                    <a:bodyPr/>
                    <a:lstStyle/>
                    <a:p>
                      <a:pPr algn="l">
                        <a:defRPr sz="950">
                          <a:solidFill>
                            <a:srgbClr val="0F172A"/>
                          </a:solidFill>
                        </a:defRPr>
                      </a:pPr>
                      <a:r>
                        <a:t>Labels have noise/imbalance; static evaluation without verification.</a:t>
                      </a:r>
                    </a:p>
                  </a:txBody>
                  <a:tcPr>
                    <a:solidFill>
                      <a:srgbClr val="FFFFFF"/>
                    </a:solidFill>
                  </a:tcPr>
                </a:tc>
                <a:tc>
                  <a:txBody>
                    <a:bodyPr/>
                    <a:lstStyle/>
                    <a:p>
                      <a:pPr algn="l">
                        <a:defRPr sz="950">
                          <a:solidFill>
                            <a:srgbClr val="0F172A"/>
                          </a:solidFill>
                        </a:defRPr>
                      </a:pPr>
                      <a:r>
                        <a:t>Primary dataset for training; secondary for cross-dataset testing.</a:t>
                      </a:r>
                    </a:p>
                  </a:txBody>
                  <a:tcPr>
                    <a:solidFill>
                      <a:srgbClr val="FFFFFF"/>
                    </a:solidFill>
                  </a:tcPr>
                </a:tc>
              </a:tr>
              <a:tr h="807720">
                <a:tc>
                  <a:txBody>
                    <a:bodyPr/>
                    <a:lstStyle/>
                    <a:p>
                      <a:pPr algn="l">
                        <a:defRPr sz="950" b="1">
                          <a:solidFill>
                            <a:srgbClr val="0284C7"/>
                          </a:solidFill>
                        </a:defRPr>
                      </a:pPr>
                      <a:r>
                        <a:t>[3] Panigrahi &amp; Borah (2018)</a:t>
                      </a:r>
                    </a:p>
                  </a:txBody>
                  <a:tcPr>
                    <a:solidFill>
                      <a:srgbClr val="F1F5F9"/>
                    </a:solidFill>
                  </a:tcPr>
                </a:tc>
                <a:tc>
                  <a:txBody>
                    <a:bodyPr/>
                    <a:lstStyle/>
                    <a:p>
                      <a:pPr algn="l">
                        <a:defRPr sz="950">
                          <a:solidFill>
                            <a:srgbClr val="0F172A"/>
                          </a:solidFill>
                        </a:defRPr>
                      </a:pPr>
                      <a:r>
                        <a:t>Dataset Quality Audit</a:t>
                      </a:r>
                    </a:p>
                  </a:txBody>
                  <a:tcPr>
                    <a:solidFill>
                      <a:srgbClr val="F1F5F9"/>
                    </a:solidFill>
                  </a:tcPr>
                </a:tc>
                <a:tc>
                  <a:txBody>
                    <a:bodyPr/>
                    <a:lstStyle/>
                    <a:p>
                      <a:pPr algn="l">
                        <a:defRPr sz="950">
                          <a:solidFill>
                            <a:srgbClr val="0F172A"/>
                          </a:solidFill>
                        </a:defRPr>
                      </a:pPr>
                      <a:r>
                        <a:t>Empirical critique of label inconsistencies &amp; severe class skews in CICIDS2017.</a:t>
                      </a:r>
                    </a:p>
                  </a:txBody>
                  <a:tcPr>
                    <a:solidFill>
                      <a:srgbClr val="F1F5F9"/>
                    </a:solidFill>
                  </a:tcPr>
                </a:tc>
                <a:tc>
                  <a:txBody>
                    <a:bodyPr/>
                    <a:lstStyle/>
                    <a:p>
                      <a:pPr algn="l">
                        <a:defRPr sz="950">
                          <a:solidFill>
                            <a:srgbClr val="0F172A"/>
                          </a:solidFill>
                        </a:defRPr>
                      </a:pPr>
                      <a:r>
                        <a:t>Identified flaws but did not provide an operational pipeline to handle them.</a:t>
                      </a:r>
                    </a:p>
                  </a:txBody>
                  <a:tcPr>
                    <a:solidFill>
                      <a:srgbClr val="F1F5F9"/>
                    </a:solidFill>
                  </a:tcPr>
                </a:tc>
                <a:tc>
                  <a:txBody>
                    <a:bodyPr/>
                    <a:lstStyle/>
                    <a:p>
                      <a:pPr algn="l">
                        <a:defRPr sz="950">
                          <a:solidFill>
                            <a:srgbClr val="0F172A"/>
                          </a:solidFill>
                        </a:defRPr>
                      </a:pPr>
                      <a:r>
                        <a:t>Directly motivates rigorous data cleaning &amp; independent verification layer.</a:t>
                      </a:r>
                    </a:p>
                  </a:txBody>
                  <a:tcPr>
                    <a:solidFill>
                      <a:srgbClr val="F1F5F9"/>
                    </a:solidFill>
                  </a:tcPr>
                </a:tc>
              </a:tr>
              <a:tr h="807720">
                <a:tc>
                  <a:txBody>
                    <a:bodyPr/>
                    <a:lstStyle/>
                    <a:p>
                      <a:pPr algn="l">
                        <a:defRPr sz="950" b="1">
                          <a:solidFill>
                            <a:srgbClr val="0284C7"/>
                          </a:solidFill>
                        </a:defRPr>
                      </a:pPr>
                      <a:r>
                        <a:t>[4][10] Buczak (2016) / Khraisat (2019)</a:t>
                      </a:r>
                    </a:p>
                  </a:txBody>
                  <a:tcPr>
                    <a:solidFill>
                      <a:srgbClr val="FFFFFF"/>
                    </a:solidFill>
                  </a:tcPr>
                </a:tc>
                <a:tc>
                  <a:txBody>
                    <a:bodyPr/>
                    <a:lstStyle/>
                    <a:p>
                      <a:pPr algn="l">
                        <a:defRPr sz="950">
                          <a:solidFill>
                            <a:srgbClr val="0F172A"/>
                          </a:solidFill>
                        </a:defRPr>
                      </a:pPr>
                      <a:r>
                        <a:t>IDS Surveys &amp; Taxonomy</a:t>
                      </a:r>
                    </a:p>
                  </a:txBody>
                  <a:tcPr>
                    <a:solidFill>
                      <a:srgbClr val="FFFFFF"/>
                    </a:solidFill>
                  </a:tcPr>
                </a:tc>
                <a:tc>
                  <a:txBody>
                    <a:bodyPr/>
                    <a:lstStyle/>
                    <a:p>
                      <a:pPr algn="l">
                        <a:defRPr sz="950">
                          <a:solidFill>
                            <a:srgbClr val="0F172A"/>
                          </a:solidFill>
                        </a:defRPr>
                      </a:pPr>
                      <a:r>
                        <a:t>Comprehensive catalog of ML/DM intrusion detection methods &amp; metrics.</a:t>
                      </a:r>
                    </a:p>
                  </a:txBody>
                  <a:tcPr>
                    <a:solidFill>
                      <a:srgbClr val="FFFFFF"/>
                    </a:solidFill>
                  </a:tcPr>
                </a:tc>
                <a:tc>
                  <a:txBody>
                    <a:bodyPr/>
                    <a:lstStyle/>
                    <a:p>
                      <a:pPr algn="l">
                        <a:defRPr sz="950">
                          <a:solidFill>
                            <a:srgbClr val="0F172A"/>
                          </a:solidFill>
                        </a:defRPr>
                      </a:pPr>
                      <a:r>
                        <a:t>High offline accuracy fails in real SOCs due to unmanaged false positives.</a:t>
                      </a:r>
                    </a:p>
                  </a:txBody>
                  <a:tcPr>
                    <a:solidFill>
                      <a:srgbClr val="FFFFFF"/>
                    </a:solidFill>
                  </a:tcPr>
                </a:tc>
                <a:tc>
                  <a:txBody>
                    <a:bodyPr/>
                    <a:lstStyle/>
                    <a:p>
                      <a:pPr algn="l">
                        <a:defRPr sz="950">
                          <a:solidFill>
                            <a:srgbClr val="0F172A"/>
                          </a:solidFill>
                        </a:defRPr>
                      </a:pPr>
                      <a:r>
                        <a:t>Frames core problem statement: need for automated FP mitigation.</a:t>
                      </a:r>
                    </a:p>
                  </a:txBody>
                  <a:tcPr>
                    <a:solidFill>
                      <a:srgbClr val="FFFFFF"/>
                    </a:solidFill>
                  </a:tcPr>
                </a:tc>
              </a:tr>
              <a:tr h="807720">
                <a:tc>
                  <a:txBody>
                    <a:bodyPr/>
                    <a:lstStyle/>
                    <a:p>
                      <a:pPr algn="l">
                        <a:defRPr sz="950" b="1">
                          <a:solidFill>
                            <a:srgbClr val="0284C7"/>
                          </a:solidFill>
                        </a:defRPr>
                      </a:pPr>
                      <a:r>
                        <a:t>[5][6] Lundberg (2017) / Wang (2020)</a:t>
                      </a:r>
                    </a:p>
                  </a:txBody>
                  <a:tcPr>
                    <a:solidFill>
                      <a:srgbClr val="F1F5F9"/>
                    </a:solidFill>
                  </a:tcPr>
                </a:tc>
                <a:tc>
                  <a:txBody>
                    <a:bodyPr/>
                    <a:lstStyle/>
                    <a:p>
                      <a:pPr algn="l">
                        <a:defRPr sz="950">
                          <a:solidFill>
                            <a:srgbClr val="0F172A"/>
                          </a:solidFill>
                        </a:defRPr>
                      </a:pPr>
                      <a:r>
                        <a:t>Explainable AI (SHAP)</a:t>
                      </a:r>
                    </a:p>
                  </a:txBody>
                  <a:tcPr>
                    <a:solidFill>
                      <a:srgbClr val="F1F5F9"/>
                    </a:solidFill>
                  </a:tcPr>
                </a:tc>
                <a:tc>
                  <a:txBody>
                    <a:bodyPr/>
                    <a:lstStyle/>
                    <a:p>
                      <a:pPr algn="l">
                        <a:defRPr sz="950">
                          <a:solidFill>
                            <a:srgbClr val="0F172A"/>
                          </a:solidFill>
                        </a:defRPr>
                      </a:pPr>
                      <a:r>
                        <a:t>Game-theoretic feature attributions for tree &amp; ensemble classifiers.</a:t>
                      </a:r>
                    </a:p>
                  </a:txBody>
                  <a:tcPr>
                    <a:solidFill>
                      <a:srgbClr val="F1F5F9"/>
                    </a:solidFill>
                  </a:tcPr>
                </a:tc>
                <a:tc>
                  <a:txBody>
                    <a:bodyPr/>
                    <a:lstStyle/>
                    <a:p>
                      <a:pPr algn="l">
                        <a:defRPr sz="950">
                          <a:solidFill>
                            <a:srgbClr val="0F172A"/>
                          </a:solidFill>
                        </a:defRPr>
                      </a:pPr>
                      <a:r>
                        <a:t>XAI used solely for post-hoc human inspection, not automated triage.</a:t>
                      </a:r>
                    </a:p>
                  </a:txBody>
                  <a:tcPr>
                    <a:solidFill>
                      <a:srgbClr val="F1F5F9"/>
                    </a:solidFill>
                  </a:tcPr>
                </a:tc>
                <a:tc>
                  <a:txBody>
                    <a:bodyPr/>
                    <a:lstStyle/>
                    <a:p>
                      <a:pPr algn="l">
                        <a:defRPr sz="950">
                          <a:solidFill>
                            <a:srgbClr val="0F172A"/>
                          </a:solidFill>
                        </a:defRPr>
                      </a:pPr>
                      <a:r>
                        <a:t>Basis for Detection Agent explanations &amp; Verification Agent audit.</a:t>
                      </a:r>
                    </a:p>
                  </a:txBody>
                  <a:tcPr>
                    <a:solidFill>
                      <a:srgbClr val="F1F5F9"/>
                    </a:solidFill>
                  </a:tcPr>
                </a:tc>
              </a:tr>
              <a:tr h="807720">
                <a:tc>
                  <a:txBody>
                    <a:bodyPr/>
                    <a:lstStyle/>
                    <a:p>
                      <a:pPr algn="l">
                        <a:defRPr sz="950" b="1">
                          <a:solidFill>
                            <a:srgbClr val="0284C7"/>
                          </a:solidFill>
                        </a:defRPr>
                      </a:pPr>
                      <a:r>
                        <a:t>[7][8][9] CORTEX / QASecClaw (2025-26)</a:t>
                      </a:r>
                    </a:p>
                  </a:txBody>
                  <a:tcPr>
                    <a:solidFill>
                      <a:srgbClr val="FFFFFF"/>
                    </a:solidFill>
                  </a:tcPr>
                </a:tc>
                <a:tc>
                  <a:txBody>
                    <a:bodyPr/>
                    <a:lstStyle/>
                    <a:p>
                      <a:pPr algn="l">
                        <a:defRPr sz="950">
                          <a:solidFill>
                            <a:srgbClr val="0F172A"/>
                          </a:solidFill>
                        </a:defRPr>
                      </a:pPr>
                      <a:r>
                        <a:t>Agentic &amp; Multi-Agent Triage</a:t>
                      </a:r>
                    </a:p>
                  </a:txBody>
                  <a:tcPr>
                    <a:solidFill>
                      <a:srgbClr val="FFFFFF"/>
                    </a:solidFill>
                  </a:tcPr>
                </a:tc>
                <a:tc>
                  <a:txBody>
                    <a:bodyPr/>
                    <a:lstStyle/>
                    <a:p>
                      <a:pPr algn="l">
                        <a:defRPr sz="950">
                          <a:solidFill>
                            <a:srgbClr val="0F172A"/>
                          </a:solidFill>
                        </a:defRPr>
                      </a:pPr>
                      <a:r>
                        <a:t>Specialized agent collaboration achieves 40%–88% reduction in false positives.</a:t>
                      </a:r>
                    </a:p>
                  </a:txBody>
                  <a:tcPr>
                    <a:solidFill>
                      <a:srgbClr val="FFFFFF"/>
                    </a:solidFill>
                  </a:tcPr>
                </a:tc>
                <a:tc>
                  <a:txBody>
                    <a:bodyPr/>
                    <a:lstStyle/>
                    <a:p>
                      <a:pPr algn="l">
                        <a:defRPr sz="950">
                          <a:solidFill>
                            <a:srgbClr val="0F172A"/>
                          </a:solidFill>
                        </a:defRPr>
                      </a:pPr>
                      <a:r>
                        <a:t>Relies on heavy LLM API billing &amp; proprietary enterprise log streams.</a:t>
                      </a:r>
                    </a:p>
                  </a:txBody>
                  <a:tcPr>
                    <a:solidFill>
                      <a:srgbClr val="FFFFFF"/>
                    </a:solidFill>
                  </a:tcPr>
                </a:tc>
                <a:tc>
                  <a:txBody>
                    <a:bodyPr/>
                    <a:lstStyle/>
                    <a:p>
                      <a:pPr algn="l">
                        <a:defRPr sz="950">
                          <a:solidFill>
                            <a:srgbClr val="0F172A"/>
                          </a:solidFill>
                        </a:defRPr>
                      </a:pPr>
                      <a:r>
                        <a:t>Architectural precedent: adapts detect-then-verify to lightweight ML.</a:t>
                      </a:r>
                    </a:p>
                  </a:txBody>
                  <a:tcP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TRUST-SOC | MICRO PROJECT PRESENTATION</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Research Gap: Bridging the Divide in SOC Automation</a:t>
            </a:r>
          </a:p>
        </p:txBody>
      </p:sp>
      <p:sp>
        <p:nvSpPr>
          <p:cNvPr id="5" name="Rectangle 4"/>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17320"/>
            <a:ext cx="5120640" cy="3154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00200"/>
            <a:ext cx="4754880" cy="2743200"/>
          </a:xfrm>
          <a:prstGeom prst="rect">
            <a:avLst/>
          </a:prstGeom>
          <a:noFill/>
        </p:spPr>
        <p:txBody>
          <a:bodyPr wrap="square" lIns="0" tIns="0">
            <a:spAutoFit/>
          </a:bodyPr>
          <a:lstStyle/>
          <a:p>
            <a:pPr>
              <a:defRPr sz="1350" b="1">
                <a:solidFill>
                  <a:srgbClr val="EF4444"/>
                </a:solidFill>
              </a:defRPr>
            </a:pPr>
            <a:r>
              <a:t>Silo 1: Academic Benchmark IDS ([1]-[6], [10])</a:t>
            </a:r>
          </a:p>
          <a:p>
            <a:pPr>
              <a:spcBef>
                <a:spcPts val="400"/>
              </a:spcBef>
              <a:defRPr sz="1000">
                <a:solidFill>
                  <a:srgbClr val="64748B"/>
                </a:solidFill>
              </a:defRPr>
            </a:pPr>
            <a:r>
              <a:t>• Single Standalone Model: Focuses strictly on static test-set accuracy of a single classifier without self-questioning.</a:t>
            </a:r>
          </a:p>
          <a:p>
            <a:pPr>
              <a:spcBef>
                <a:spcPts val="400"/>
              </a:spcBef>
              <a:defRPr sz="1000">
                <a:solidFill>
                  <a:srgbClr val="64748B"/>
                </a:solidFill>
              </a:defRPr>
            </a:pPr>
            <a:r>
              <a:t>• Zero In-Flight Verification: Errors pass directly to alerts; false-positive burden is never reduced in the pipeline.</a:t>
            </a:r>
          </a:p>
          <a:p>
            <a:pPr>
              <a:spcBef>
                <a:spcPts val="400"/>
              </a:spcBef>
              <a:defRPr sz="1000">
                <a:solidFill>
                  <a:srgbClr val="64748B"/>
                </a:solidFill>
              </a:defRPr>
            </a:pPr>
            <a:r>
              <a:t>• Passive Visual Explanations: SHAP/LIME used purely for static human charts, never utilized as a machine decision signal.</a:t>
            </a:r>
          </a:p>
          <a:p>
            <a:pPr>
              <a:spcBef>
                <a:spcPts val="400"/>
              </a:spcBef>
              <a:defRPr sz="1000">
                <a:solidFill>
                  <a:srgbClr val="64748B"/>
                </a:solidFill>
              </a:defRPr>
            </a:pPr>
            <a:r>
              <a:t>• No SOC Interface: Research rarely ships with a functional dashboard or exportable evidence-linked audit trails.</a:t>
            </a:r>
          </a:p>
        </p:txBody>
      </p:sp>
      <p:sp>
        <p:nvSpPr>
          <p:cNvPr id="8" name="Rounded Rectangle 7"/>
          <p:cNvSpPr/>
          <p:nvPr/>
        </p:nvSpPr>
        <p:spPr>
          <a:xfrm>
            <a:off x="6217920" y="1417320"/>
            <a:ext cx="5212080" cy="3154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00200"/>
            <a:ext cx="4846320" cy="2743200"/>
          </a:xfrm>
          <a:prstGeom prst="rect">
            <a:avLst/>
          </a:prstGeom>
          <a:noFill/>
        </p:spPr>
        <p:txBody>
          <a:bodyPr wrap="square" lIns="0" tIns="0">
            <a:spAutoFit/>
          </a:bodyPr>
          <a:lstStyle/>
          <a:p>
            <a:pPr>
              <a:defRPr sz="1350" b="1">
                <a:solidFill>
                  <a:srgbClr val="F59E0B"/>
                </a:solidFill>
              </a:defRPr>
            </a:pPr>
            <a:r>
              <a:t>Silo 2: Production Multi-Agent LLM SOCs ([7]-[9])</a:t>
            </a:r>
          </a:p>
          <a:p>
            <a:pPr>
              <a:spcBef>
                <a:spcPts val="400"/>
              </a:spcBef>
              <a:defRPr sz="1000">
                <a:solidFill>
                  <a:srgbClr val="64748B"/>
                </a:solidFill>
              </a:defRPr>
            </a:pPr>
            <a:r>
              <a:t>• High API Cost &amp; Latency: Built on commercial large-scale LLMs (GPT-4/Claude) requiring continuous paid API tokens.</a:t>
            </a:r>
          </a:p>
          <a:p>
            <a:pPr>
              <a:spcBef>
                <a:spcPts val="400"/>
              </a:spcBef>
              <a:defRPr sz="1000">
                <a:solidFill>
                  <a:srgbClr val="64748B"/>
                </a:solidFill>
              </a:defRPr>
            </a:pPr>
            <a:r>
              <a:t>• Tethered to Enterprise Logs: Evaluated only on closed, proprietary SIEM data; non-reproducible for academic research.</a:t>
            </a:r>
          </a:p>
          <a:p>
            <a:pPr>
              <a:spcBef>
                <a:spcPts val="400"/>
              </a:spcBef>
              <a:defRPr sz="1000">
                <a:solidFill>
                  <a:srgbClr val="64748B"/>
                </a:solidFill>
              </a:defRPr>
            </a:pPr>
            <a:r>
              <a:t>• Overkill for Flow Triage: Complex prompt chains introduce hallucination risks and high response latencies.</a:t>
            </a:r>
          </a:p>
          <a:p>
            <a:pPr>
              <a:spcBef>
                <a:spcPts val="400"/>
              </a:spcBef>
              <a:defRPr sz="1000">
                <a:solidFill>
                  <a:srgbClr val="64748B"/>
                </a:solidFill>
              </a:defRPr>
            </a:pPr>
            <a:r>
              <a:t>• Inaccessible Implementation: Prohibitive complexity makes them impossible to replicate in a semester micro-project.</a:t>
            </a:r>
          </a:p>
        </p:txBody>
      </p:sp>
      <p:sp>
        <p:nvSpPr>
          <p:cNvPr id="10" name="Rounded Rectangle 9"/>
          <p:cNvSpPr/>
          <p:nvPr/>
        </p:nvSpPr>
        <p:spPr>
          <a:xfrm>
            <a:off x="731520" y="4754880"/>
            <a:ext cx="10698480" cy="1645920"/>
          </a:xfrm>
          <a:prstGeom prst="roundRect">
            <a:avLst/>
          </a:prstGeom>
          <a:solidFill>
            <a:srgbClr val="F0FDF4"/>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846320"/>
            <a:ext cx="10332720" cy="1463040"/>
          </a:xfrm>
          <a:prstGeom prst="rect">
            <a:avLst/>
          </a:prstGeom>
          <a:noFill/>
        </p:spPr>
        <p:txBody>
          <a:bodyPr wrap="square" lIns="0" tIns="0">
            <a:spAutoFit/>
          </a:bodyPr>
          <a:lstStyle/>
          <a:p>
            <a:pPr>
              <a:defRPr sz="1250" b="1">
                <a:solidFill>
                  <a:srgbClr val="10B981"/>
                </a:solidFill>
              </a:defRPr>
            </a:pPr>
            <a:r>
              <a:t>THE RESEARCH GAP ADDRESSED BY TRUST-SOC</a:t>
            </a:r>
          </a:p>
          <a:p>
            <a:pPr>
              <a:spcBef>
                <a:spcPts val="300"/>
              </a:spcBef>
              <a:defRPr sz="1000">
                <a:solidFill>
                  <a:srgbClr val="0F172A"/>
                </a:solidFill>
              </a:defRPr>
            </a:pPr>
            <a:r>
              <a:t>There is currently NO lightweight, fully reproducible detect-then-verify pipeline that:</a:t>
            </a:r>
            <a:br/>
            <a:r>
              <a:t>1. Is grounded in standardized, open benchmark datasets (CICIDS2017 / CSE-CIC-IDS2018) rather than proprietary enterprise logs;</a:t>
            </a:r>
            <a:br/>
            <a:r>
              <a:t>2. Couples a classical ML Detection Agent with a rule-, baseline-, and explainability-driven Verification Agent instead of costly LLM APIs;</a:t>
            </a:r>
            <a:br/>
            <a:r>
              <a:t>3. Computes a principled, multi-source composite confidence score (C) rather than relying on a raw classifier probability; and</a:t>
            </a:r>
            <a:br/>
            <a:r>
              <a:t>4. Generates an evidence-linked audit report (JSON/PDF) and surfaces the alert stream on a working SOC dashboard within a semester scope.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TRUST-SOC | MICRO PROJECT PRESENTATION</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Project Objectives: Frozen Scope &amp; Measurable Deliverables</a:t>
            </a:r>
          </a:p>
        </p:txBody>
      </p:sp>
      <p:sp>
        <p:nvSpPr>
          <p:cNvPr id="5" name="Rectangle 4"/>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17320"/>
            <a:ext cx="10698480" cy="594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527048"/>
            <a:ext cx="365760" cy="36576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a:t>
            </a:r>
          </a:p>
        </p:txBody>
      </p:sp>
      <p:sp>
        <p:nvSpPr>
          <p:cNvPr id="8" name="TextBox 7"/>
          <p:cNvSpPr txBox="1"/>
          <p:nvPr/>
        </p:nvSpPr>
        <p:spPr>
          <a:xfrm>
            <a:off x="1325880" y="1490472"/>
            <a:ext cx="9966960" cy="502920"/>
          </a:xfrm>
          <a:prstGeom prst="rect">
            <a:avLst/>
          </a:prstGeom>
          <a:noFill/>
        </p:spPr>
        <p:txBody>
          <a:bodyPr wrap="square" lIns="0" tIns="0">
            <a:spAutoFit/>
          </a:bodyPr>
          <a:lstStyle/>
          <a:p>
            <a:pPr>
              <a:defRPr sz="1100" b="1">
                <a:solidFill>
                  <a:srgbClr val="0F172A"/>
                </a:solidFill>
              </a:defRPr>
            </a:pPr>
            <a:r>
              <a:t>1. Dataset Ingestion &amp; Normalization</a:t>
            </a:r>
          </a:p>
          <a:p>
            <a:pPr>
              <a:spcBef>
                <a:spcPts val="100"/>
              </a:spcBef>
              <a:defRPr sz="950">
                <a:solidFill>
                  <a:srgbClr val="64748B"/>
                </a:solidFill>
              </a:defRPr>
            </a:pPr>
            <a:r>
              <a:t>Acquire and clean CICIDS2017 (primary) and CSE-CIC-IDS2018 (secondary); eliminate flaws documented by Panigrahi &amp; Borah; normalize into a unified streaming JSON flow schema.</a:t>
            </a:r>
          </a:p>
        </p:txBody>
      </p:sp>
      <p:sp>
        <p:nvSpPr>
          <p:cNvPr id="9" name="Rounded Rectangle 8"/>
          <p:cNvSpPr/>
          <p:nvPr/>
        </p:nvSpPr>
        <p:spPr>
          <a:xfrm>
            <a:off x="731520" y="2121408"/>
            <a:ext cx="10698480" cy="594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2231136"/>
            <a:ext cx="365760" cy="36576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a:t>
            </a:r>
          </a:p>
        </p:txBody>
      </p:sp>
      <p:sp>
        <p:nvSpPr>
          <p:cNvPr id="11" name="TextBox 10"/>
          <p:cNvSpPr txBox="1"/>
          <p:nvPr/>
        </p:nvSpPr>
        <p:spPr>
          <a:xfrm>
            <a:off x="1325880" y="2194560"/>
            <a:ext cx="9966960" cy="502920"/>
          </a:xfrm>
          <a:prstGeom prst="rect">
            <a:avLst/>
          </a:prstGeom>
          <a:noFill/>
        </p:spPr>
        <p:txBody>
          <a:bodyPr wrap="square" lIns="0" tIns="0">
            <a:spAutoFit/>
          </a:bodyPr>
          <a:lstStyle/>
          <a:p>
            <a:pPr>
              <a:defRPr sz="1100" b="1">
                <a:solidFill>
                  <a:srgbClr val="0F172A"/>
                </a:solidFill>
              </a:defRPr>
            </a:pPr>
            <a:r>
              <a:t>2. Log-Analysis Detection Agent</a:t>
            </a:r>
          </a:p>
          <a:p>
            <a:pPr>
              <a:spcBef>
                <a:spcPts val="100"/>
              </a:spcBef>
              <a:defRPr sz="950">
                <a:solidFill>
                  <a:srgbClr val="64748B"/>
                </a:solidFill>
              </a:defRPr>
            </a:pPr>
            <a:r>
              <a:t>Design, train, and tune a supervised ensemble classifier (Random Forest baseline, XGBoost alternative) that outputs class predictions, raw probability p_d, and local top-k SHAP attributions.</a:t>
            </a:r>
          </a:p>
        </p:txBody>
      </p:sp>
      <p:sp>
        <p:nvSpPr>
          <p:cNvPr id="12" name="Rounded Rectangle 11"/>
          <p:cNvSpPr/>
          <p:nvPr/>
        </p:nvSpPr>
        <p:spPr>
          <a:xfrm>
            <a:off x="731520" y="2825496"/>
            <a:ext cx="10698480" cy="594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 y="2935224"/>
            <a:ext cx="365760" cy="36576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a:t>
            </a:r>
          </a:p>
        </p:txBody>
      </p:sp>
      <p:sp>
        <p:nvSpPr>
          <p:cNvPr id="14" name="TextBox 13"/>
          <p:cNvSpPr txBox="1"/>
          <p:nvPr/>
        </p:nvSpPr>
        <p:spPr>
          <a:xfrm>
            <a:off x="1325880" y="2898648"/>
            <a:ext cx="9966960" cy="502920"/>
          </a:xfrm>
          <a:prstGeom prst="rect">
            <a:avLst/>
          </a:prstGeom>
          <a:noFill/>
        </p:spPr>
        <p:txBody>
          <a:bodyPr wrap="square" lIns="0" tIns="0">
            <a:spAutoFit/>
          </a:bodyPr>
          <a:lstStyle/>
          <a:p>
            <a:pPr>
              <a:defRPr sz="1100" b="1">
                <a:solidFill>
                  <a:srgbClr val="0F172A"/>
                </a:solidFill>
              </a:defRPr>
            </a:pPr>
            <a:r>
              <a:t>3. Multi-Signal Verification Agent</a:t>
            </a:r>
          </a:p>
          <a:p>
            <a:pPr>
              <a:spcBef>
                <a:spcPts val="100"/>
              </a:spcBef>
              <a:defRPr sz="950">
                <a:solidFill>
                  <a:srgbClr val="64748B"/>
                </a:solidFill>
              </a:defRPr>
            </a:pPr>
            <a:r>
              <a:t>Engineer an independent verification engine evaluating 4 corroboration signals: static rules/asset context, Isolation Forest anomaly check, rolling host traffic baseline, and SHAP explanation consistency.</a:t>
            </a:r>
          </a:p>
        </p:txBody>
      </p:sp>
      <p:sp>
        <p:nvSpPr>
          <p:cNvPr id="15" name="Rounded Rectangle 14"/>
          <p:cNvSpPr/>
          <p:nvPr/>
        </p:nvSpPr>
        <p:spPr>
          <a:xfrm>
            <a:off x="731520" y="3529584"/>
            <a:ext cx="10698480" cy="594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3639312"/>
            <a:ext cx="365760" cy="36576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4</a:t>
            </a:r>
          </a:p>
        </p:txBody>
      </p:sp>
      <p:sp>
        <p:nvSpPr>
          <p:cNvPr id="17" name="TextBox 16"/>
          <p:cNvSpPr txBox="1"/>
          <p:nvPr/>
        </p:nvSpPr>
        <p:spPr>
          <a:xfrm>
            <a:off x="1325880" y="3602736"/>
            <a:ext cx="9966960" cy="502920"/>
          </a:xfrm>
          <a:prstGeom prst="rect">
            <a:avLst/>
          </a:prstGeom>
          <a:noFill/>
        </p:spPr>
        <p:txBody>
          <a:bodyPr wrap="square" lIns="0" tIns="0">
            <a:spAutoFit/>
          </a:bodyPr>
          <a:lstStyle/>
          <a:p>
            <a:pPr>
              <a:defRPr sz="1100" b="1">
                <a:solidFill>
                  <a:srgbClr val="0F172A"/>
                </a:solidFill>
              </a:defRPr>
            </a:pPr>
            <a:r>
              <a:t>4. Multi-Source Confidence Engine</a:t>
            </a:r>
          </a:p>
          <a:p>
            <a:pPr>
              <a:spcBef>
                <a:spcPts val="100"/>
              </a:spcBef>
              <a:defRPr sz="950">
                <a:solidFill>
                  <a:srgbClr val="64748B"/>
                </a:solidFill>
              </a:defRPr>
            </a:pPr>
            <a:r>
              <a:t>Formulate a composite scoring equation C = α·p_d + β·p_v + γ·r_corr; tune weights on validation data; partition alerts into High (≥0.80), Medium (0.50–0.80), and Low (&lt;0.50) severity bands.</a:t>
            </a:r>
          </a:p>
        </p:txBody>
      </p:sp>
      <p:sp>
        <p:nvSpPr>
          <p:cNvPr id="18" name="Rounded Rectangle 17"/>
          <p:cNvSpPr/>
          <p:nvPr/>
        </p:nvSpPr>
        <p:spPr>
          <a:xfrm>
            <a:off x="731520" y="4233672"/>
            <a:ext cx="10698480" cy="594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2960" y="4343400"/>
            <a:ext cx="365760" cy="36576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5</a:t>
            </a:r>
          </a:p>
        </p:txBody>
      </p:sp>
      <p:sp>
        <p:nvSpPr>
          <p:cNvPr id="20" name="TextBox 19"/>
          <p:cNvSpPr txBox="1"/>
          <p:nvPr/>
        </p:nvSpPr>
        <p:spPr>
          <a:xfrm>
            <a:off x="1325880" y="4306824"/>
            <a:ext cx="9966960" cy="502920"/>
          </a:xfrm>
          <a:prstGeom prst="rect">
            <a:avLst/>
          </a:prstGeom>
          <a:noFill/>
        </p:spPr>
        <p:txBody>
          <a:bodyPr wrap="square" lIns="0" tIns="0">
            <a:spAutoFit/>
          </a:bodyPr>
          <a:lstStyle/>
          <a:p>
            <a:pPr>
              <a:defRPr sz="1100" b="1">
                <a:solidFill>
                  <a:srgbClr val="0F172A"/>
                </a:solidFill>
              </a:defRPr>
            </a:pPr>
            <a:r>
              <a:t>5. Evidence-Linked Reporting Module</a:t>
            </a:r>
          </a:p>
          <a:p>
            <a:pPr>
              <a:spcBef>
                <a:spcPts val="100"/>
              </a:spcBef>
              <a:defRPr sz="950">
                <a:solidFill>
                  <a:srgbClr val="64748B"/>
                </a:solidFill>
              </a:defRPr>
            </a:pPr>
            <a:r>
              <a:t>Automate compilation of structured per-alert reports (JSON + styled PDF) binding raw flow records, feature vectors, SHAP attribution graphs, verification rationale, and MITRE ATT&amp;CK technique IDs.</a:t>
            </a:r>
          </a:p>
        </p:txBody>
      </p:sp>
      <p:sp>
        <p:nvSpPr>
          <p:cNvPr id="21" name="Rounded Rectangle 20"/>
          <p:cNvSpPr/>
          <p:nvPr/>
        </p:nvSpPr>
        <p:spPr>
          <a:xfrm>
            <a:off x="731520" y="4937760"/>
            <a:ext cx="10698480" cy="594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22960" y="5047488"/>
            <a:ext cx="365760" cy="36576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6</a:t>
            </a:r>
          </a:p>
        </p:txBody>
      </p:sp>
      <p:sp>
        <p:nvSpPr>
          <p:cNvPr id="23" name="TextBox 22"/>
          <p:cNvSpPr txBox="1"/>
          <p:nvPr/>
        </p:nvSpPr>
        <p:spPr>
          <a:xfrm>
            <a:off x="1325880" y="5010912"/>
            <a:ext cx="9966960" cy="502920"/>
          </a:xfrm>
          <a:prstGeom prst="rect">
            <a:avLst/>
          </a:prstGeom>
          <a:noFill/>
        </p:spPr>
        <p:txBody>
          <a:bodyPr wrap="square" lIns="0" tIns="0">
            <a:spAutoFit/>
          </a:bodyPr>
          <a:lstStyle/>
          <a:p>
            <a:pPr>
              <a:defRPr sz="1100" b="1">
                <a:solidFill>
                  <a:srgbClr val="0F172A"/>
                </a:solidFill>
              </a:defRPr>
            </a:pPr>
            <a:r>
              <a:t>6. Functional SOC Dashboard</a:t>
            </a:r>
          </a:p>
          <a:p>
            <a:pPr>
              <a:spcBef>
                <a:spcPts val="100"/>
              </a:spcBef>
              <a:defRPr sz="950">
                <a:solidFill>
                  <a:srgbClr val="64748B"/>
                </a:solidFill>
              </a:defRPr>
            </a:pPr>
            <a:r>
              <a:t>Develop an interactive web dashboard displaying the live confidence-coded alert stream, category and decision filters, triage summary metrics, and drill-down access to full evidence reports.</a:t>
            </a:r>
          </a:p>
        </p:txBody>
      </p:sp>
      <p:sp>
        <p:nvSpPr>
          <p:cNvPr id="24" name="Rounded Rectangle 23"/>
          <p:cNvSpPr/>
          <p:nvPr/>
        </p:nvSpPr>
        <p:spPr>
          <a:xfrm>
            <a:off x="731520" y="5641848"/>
            <a:ext cx="10698480" cy="594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22960" y="5751576"/>
            <a:ext cx="365760" cy="365760"/>
          </a:xfrm>
          <a:prstGeom prst="round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7</a:t>
            </a:r>
          </a:p>
        </p:txBody>
      </p:sp>
      <p:sp>
        <p:nvSpPr>
          <p:cNvPr id="26" name="TextBox 25"/>
          <p:cNvSpPr txBox="1"/>
          <p:nvPr/>
        </p:nvSpPr>
        <p:spPr>
          <a:xfrm>
            <a:off x="1325880" y="5715000"/>
            <a:ext cx="9966960" cy="502920"/>
          </a:xfrm>
          <a:prstGeom prst="rect">
            <a:avLst/>
          </a:prstGeom>
          <a:noFill/>
        </p:spPr>
        <p:txBody>
          <a:bodyPr wrap="square" lIns="0" tIns="0">
            <a:spAutoFit/>
          </a:bodyPr>
          <a:lstStyle/>
          <a:p>
            <a:pPr>
              <a:defRPr sz="1100" b="1">
                <a:solidFill>
                  <a:srgbClr val="0F172A"/>
                </a:solidFill>
              </a:defRPr>
            </a:pPr>
            <a:r>
              <a:t>7. Rigorous Empirical Evaluation</a:t>
            </a:r>
          </a:p>
          <a:p>
            <a:pPr>
              <a:spcBef>
                <a:spcPts val="100"/>
              </a:spcBef>
              <a:defRPr sz="950">
                <a:solidFill>
                  <a:srgbClr val="64748B"/>
                </a:solidFill>
              </a:defRPr>
            </a:pPr>
            <a:r>
              <a:t>Evaluate end-to-end performance: measure classification metrics (F1, Precision, Recall), Cohen's kappa agreement, and specifically the False-Positive Rate (FPR) reduction achieved by verification.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TRUST-SOC | MICRO PROJECT PRESENTATION</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Proposed Methodology: 6-Stage Pipeline &amp; Multi-Signal Workflow</a:t>
            </a:r>
          </a:p>
        </p:txBody>
      </p:sp>
      <p:sp>
        <p:nvSpPr>
          <p:cNvPr id="5" name="Rectangle 4"/>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17320"/>
            <a:ext cx="1664208" cy="132588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17320"/>
            <a:ext cx="1664208" cy="54864"/>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536192"/>
            <a:ext cx="1517904" cy="1097280"/>
          </a:xfrm>
          <a:prstGeom prst="rect">
            <a:avLst/>
          </a:prstGeom>
          <a:noFill/>
        </p:spPr>
        <p:txBody>
          <a:bodyPr wrap="square" lIns="0" tIns="0">
            <a:spAutoFit/>
          </a:bodyPr>
          <a:lstStyle/>
          <a:p>
            <a:pPr>
              <a:defRPr sz="950" b="1">
                <a:solidFill>
                  <a:srgbClr val="0284C7"/>
                </a:solidFill>
              </a:defRPr>
            </a:pPr>
            <a:r>
              <a:t>Stage 1</a:t>
            </a:r>
          </a:p>
          <a:p>
            <a:pPr>
              <a:spcBef>
                <a:spcPts val="200"/>
              </a:spcBef>
              <a:defRPr sz="1100" b="1">
                <a:solidFill>
                  <a:srgbClr val="0F172A"/>
                </a:solidFill>
              </a:defRPr>
            </a:pPr>
            <a:r>
              <a:t>Log Ingestion</a:t>
            </a:r>
          </a:p>
          <a:p>
            <a:pPr>
              <a:spcBef>
                <a:spcPts val="200"/>
              </a:spcBef>
              <a:defRPr sz="900">
                <a:solidFill>
                  <a:srgbClr val="64748B"/>
                </a:solidFill>
              </a:defRPr>
            </a:pPr>
            <a:r>
              <a:t>Replays CICIDS records;</a:t>
            </a:r>
            <a:br/>
            <a:r>
              <a:t>normalises to JSON flows</a:t>
            </a:r>
          </a:p>
        </p:txBody>
      </p:sp>
      <p:sp>
        <p:nvSpPr>
          <p:cNvPr id="9" name="Rounded Rectangle 8"/>
          <p:cNvSpPr/>
          <p:nvPr/>
        </p:nvSpPr>
        <p:spPr>
          <a:xfrm>
            <a:off x="2542032" y="1417320"/>
            <a:ext cx="1664208" cy="132588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42032" y="1417320"/>
            <a:ext cx="1664208" cy="54864"/>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15184" y="1536192"/>
            <a:ext cx="1517904" cy="1097280"/>
          </a:xfrm>
          <a:prstGeom prst="rect">
            <a:avLst/>
          </a:prstGeom>
          <a:noFill/>
        </p:spPr>
        <p:txBody>
          <a:bodyPr wrap="square" lIns="0" tIns="0">
            <a:spAutoFit/>
          </a:bodyPr>
          <a:lstStyle/>
          <a:p>
            <a:pPr>
              <a:defRPr sz="950" b="1">
                <a:solidFill>
                  <a:srgbClr val="0284C7"/>
                </a:solidFill>
              </a:defRPr>
            </a:pPr>
            <a:r>
              <a:t>Stage 2</a:t>
            </a:r>
          </a:p>
          <a:p>
            <a:pPr>
              <a:spcBef>
                <a:spcPts val="200"/>
              </a:spcBef>
              <a:defRPr sz="1100" b="1">
                <a:solidFill>
                  <a:srgbClr val="0F172A"/>
                </a:solidFill>
              </a:defRPr>
            </a:pPr>
            <a:r>
              <a:t>Detection Agent</a:t>
            </a:r>
          </a:p>
          <a:p>
            <a:pPr>
              <a:spcBef>
                <a:spcPts val="200"/>
              </a:spcBef>
              <a:defRPr sz="900">
                <a:solidFill>
                  <a:srgbClr val="64748B"/>
                </a:solidFill>
              </a:defRPr>
            </a:pPr>
            <a:r>
              <a:t>Random Forest / XGBoost;</a:t>
            </a:r>
            <a:br/>
            <a:r>
              <a:t>outputs p_d &amp; top-k SHAP</a:t>
            </a:r>
          </a:p>
        </p:txBody>
      </p:sp>
      <p:sp>
        <p:nvSpPr>
          <p:cNvPr id="12" name="Rounded Rectangle 11"/>
          <p:cNvSpPr/>
          <p:nvPr/>
        </p:nvSpPr>
        <p:spPr>
          <a:xfrm>
            <a:off x="4352544" y="1417320"/>
            <a:ext cx="1664208" cy="132588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52544" y="1417320"/>
            <a:ext cx="1664208" cy="54864"/>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5696" y="1536192"/>
            <a:ext cx="1517904" cy="1097280"/>
          </a:xfrm>
          <a:prstGeom prst="rect">
            <a:avLst/>
          </a:prstGeom>
          <a:noFill/>
        </p:spPr>
        <p:txBody>
          <a:bodyPr wrap="square" lIns="0" tIns="0">
            <a:spAutoFit/>
          </a:bodyPr>
          <a:lstStyle/>
          <a:p>
            <a:pPr>
              <a:defRPr sz="950" b="1">
                <a:solidFill>
                  <a:srgbClr val="0284C7"/>
                </a:solidFill>
              </a:defRPr>
            </a:pPr>
            <a:r>
              <a:t>Stage 3</a:t>
            </a:r>
          </a:p>
          <a:p>
            <a:pPr>
              <a:spcBef>
                <a:spcPts val="200"/>
              </a:spcBef>
              <a:defRPr sz="1100" b="1">
                <a:solidFill>
                  <a:srgbClr val="0F172A"/>
                </a:solidFill>
              </a:defRPr>
            </a:pPr>
            <a:r>
              <a:t>Verification Agent</a:t>
            </a:r>
          </a:p>
          <a:p>
            <a:pPr>
              <a:spcBef>
                <a:spcPts val="200"/>
              </a:spcBef>
              <a:defRPr sz="900">
                <a:solidFill>
                  <a:srgbClr val="64748B"/>
                </a:solidFill>
              </a:defRPr>
            </a:pPr>
            <a:r>
              <a:t>Independent 4-signal audit;</a:t>
            </a:r>
            <a:br/>
            <a:r>
              <a:t>CONFIRM / REDUCE / REJECT</a:t>
            </a:r>
          </a:p>
        </p:txBody>
      </p:sp>
      <p:sp>
        <p:nvSpPr>
          <p:cNvPr id="15" name="Rounded Rectangle 14"/>
          <p:cNvSpPr/>
          <p:nvPr/>
        </p:nvSpPr>
        <p:spPr>
          <a:xfrm>
            <a:off x="6163055" y="1417320"/>
            <a:ext cx="1664208" cy="132588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5" y="1417320"/>
            <a:ext cx="1664208" cy="54864"/>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36207" y="1536192"/>
            <a:ext cx="1517904" cy="1097280"/>
          </a:xfrm>
          <a:prstGeom prst="rect">
            <a:avLst/>
          </a:prstGeom>
          <a:noFill/>
        </p:spPr>
        <p:txBody>
          <a:bodyPr wrap="square" lIns="0" tIns="0">
            <a:spAutoFit/>
          </a:bodyPr>
          <a:lstStyle/>
          <a:p>
            <a:pPr>
              <a:defRPr sz="950" b="1">
                <a:solidFill>
                  <a:srgbClr val="0284C7"/>
                </a:solidFill>
              </a:defRPr>
            </a:pPr>
            <a:r>
              <a:t>Stage 4</a:t>
            </a:r>
          </a:p>
          <a:p>
            <a:pPr>
              <a:spcBef>
                <a:spcPts val="200"/>
              </a:spcBef>
              <a:defRPr sz="1100" b="1">
                <a:solidFill>
                  <a:srgbClr val="0F172A"/>
                </a:solidFill>
              </a:defRPr>
            </a:pPr>
            <a:r>
              <a:t>Confidence Engine</a:t>
            </a:r>
          </a:p>
          <a:p>
            <a:pPr>
              <a:spcBef>
                <a:spcPts val="200"/>
              </a:spcBef>
              <a:defRPr sz="900">
                <a:solidFill>
                  <a:srgbClr val="64748B"/>
                </a:solidFill>
              </a:defRPr>
            </a:pPr>
            <a:r>
              <a:t>Fuses p_d + p_v + r_corr;</a:t>
            </a:r>
            <a:br/>
            <a:r>
              <a:t>High/Med/Low bands</a:t>
            </a:r>
          </a:p>
        </p:txBody>
      </p:sp>
      <p:sp>
        <p:nvSpPr>
          <p:cNvPr id="18" name="Rounded Rectangle 17"/>
          <p:cNvSpPr/>
          <p:nvPr/>
        </p:nvSpPr>
        <p:spPr>
          <a:xfrm>
            <a:off x="7973568" y="1417320"/>
            <a:ext cx="1664208" cy="132588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73568" y="1417320"/>
            <a:ext cx="1664208" cy="54864"/>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0" y="1536192"/>
            <a:ext cx="1517904" cy="1097280"/>
          </a:xfrm>
          <a:prstGeom prst="rect">
            <a:avLst/>
          </a:prstGeom>
          <a:noFill/>
        </p:spPr>
        <p:txBody>
          <a:bodyPr wrap="square" lIns="0" tIns="0">
            <a:spAutoFit/>
          </a:bodyPr>
          <a:lstStyle/>
          <a:p>
            <a:pPr>
              <a:defRPr sz="950" b="1">
                <a:solidFill>
                  <a:srgbClr val="0284C7"/>
                </a:solidFill>
              </a:defRPr>
            </a:pPr>
            <a:r>
              <a:t>Stage 5</a:t>
            </a:r>
          </a:p>
          <a:p>
            <a:pPr>
              <a:spcBef>
                <a:spcPts val="200"/>
              </a:spcBef>
              <a:defRPr sz="1100" b="1">
                <a:solidFill>
                  <a:srgbClr val="0F172A"/>
                </a:solidFill>
              </a:defRPr>
            </a:pPr>
            <a:r>
              <a:t>Report Generator</a:t>
            </a:r>
          </a:p>
          <a:p>
            <a:pPr>
              <a:spcBef>
                <a:spcPts val="200"/>
              </a:spcBef>
              <a:defRPr sz="900">
                <a:solidFill>
                  <a:srgbClr val="64748B"/>
                </a:solidFill>
              </a:defRPr>
            </a:pPr>
            <a:r>
              <a:t>Compiles JSON + PDF</a:t>
            </a:r>
            <a:br/>
            <a:r>
              <a:t>evidence-linked reports</a:t>
            </a:r>
          </a:p>
        </p:txBody>
      </p:sp>
      <p:sp>
        <p:nvSpPr>
          <p:cNvPr id="21" name="Rounded Rectangle 20"/>
          <p:cNvSpPr/>
          <p:nvPr/>
        </p:nvSpPr>
        <p:spPr>
          <a:xfrm>
            <a:off x="9784080" y="1417320"/>
            <a:ext cx="1664208" cy="132588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784080" y="1417320"/>
            <a:ext cx="1664208" cy="54864"/>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57232" y="1536192"/>
            <a:ext cx="1517904" cy="1097280"/>
          </a:xfrm>
          <a:prstGeom prst="rect">
            <a:avLst/>
          </a:prstGeom>
          <a:noFill/>
        </p:spPr>
        <p:txBody>
          <a:bodyPr wrap="square" lIns="0" tIns="0">
            <a:spAutoFit/>
          </a:bodyPr>
          <a:lstStyle/>
          <a:p>
            <a:pPr>
              <a:defRPr sz="950" b="1">
                <a:solidFill>
                  <a:srgbClr val="0284C7"/>
                </a:solidFill>
              </a:defRPr>
            </a:pPr>
            <a:r>
              <a:t>Stage 6</a:t>
            </a:r>
          </a:p>
          <a:p>
            <a:pPr>
              <a:spcBef>
                <a:spcPts val="200"/>
              </a:spcBef>
              <a:defRPr sz="1100" b="1">
                <a:solidFill>
                  <a:srgbClr val="0F172A"/>
                </a:solidFill>
              </a:defRPr>
            </a:pPr>
            <a:r>
              <a:t>SOC Dashboard</a:t>
            </a:r>
          </a:p>
          <a:p>
            <a:pPr>
              <a:spcBef>
                <a:spcPts val="200"/>
              </a:spcBef>
              <a:defRPr sz="900">
                <a:solidFill>
                  <a:srgbClr val="64748B"/>
                </a:solidFill>
              </a:defRPr>
            </a:pPr>
            <a:r>
              <a:t>Live alert feed, filters,</a:t>
            </a:r>
            <a:br/>
            <a:r>
              <a:t>charts &amp; evidence drill-down</a:t>
            </a:r>
          </a:p>
        </p:txBody>
      </p:sp>
      <p:sp>
        <p:nvSpPr>
          <p:cNvPr id="24" name="Rounded Rectangle 23"/>
          <p:cNvSpPr/>
          <p:nvPr/>
        </p:nvSpPr>
        <p:spPr>
          <a:xfrm>
            <a:off x="731520" y="2926080"/>
            <a:ext cx="5212080" cy="3383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3063240"/>
            <a:ext cx="4846320" cy="3108960"/>
          </a:xfrm>
          <a:prstGeom prst="rect">
            <a:avLst/>
          </a:prstGeom>
          <a:noFill/>
        </p:spPr>
        <p:txBody>
          <a:bodyPr wrap="square" lIns="0" tIns="0">
            <a:spAutoFit/>
          </a:bodyPr>
          <a:lstStyle/>
          <a:p>
            <a:pPr>
              <a:defRPr sz="1250" b="1">
                <a:solidFill>
                  <a:srgbClr val="8B5CF6"/>
                </a:solidFill>
              </a:defRPr>
            </a:pPr>
            <a:r>
              <a:t>Verification Agent: 4 Corroboration Signals</a:t>
            </a:r>
          </a:p>
          <a:p>
            <a:pPr>
              <a:spcBef>
                <a:spcPts val="400"/>
              </a:spcBef>
              <a:defRPr sz="1000" b="1">
                <a:solidFill>
                  <a:srgbClr val="0F172A"/>
                </a:solidFill>
              </a:defRPr>
            </a:pPr>
            <a:r>
              <a:t>• (a) Rule / Context Corroboration (r):</a:t>
            </a:r>
          </a:p>
          <a:p>
            <a:pPr>
              <a:defRPr sz="900">
                <a:solidFill>
                  <a:srgbClr val="64748B"/>
                </a:solidFill>
              </a:defRPr>
            </a:pPr>
            <a:r>
              <a:t>   Cross-checks destination asset criticality, service whitelist, and verifies flow attributes against MITRE ATT&amp;CK technique patterns.</a:t>
            </a:r>
          </a:p>
          <a:p>
            <a:pPr>
              <a:spcBef>
                <a:spcPts val="400"/>
              </a:spcBef>
              <a:defRPr sz="1000" b="1">
                <a:solidFill>
                  <a:srgbClr val="0F172A"/>
                </a:solidFill>
              </a:defRPr>
            </a:pPr>
            <a:r>
              <a:t>• (b) Statistical Anomaly Corroboration (s):</a:t>
            </a:r>
          </a:p>
          <a:p>
            <a:pPr>
              <a:defRPr sz="900">
                <a:solidFill>
                  <a:srgbClr val="64748B"/>
                </a:solidFill>
              </a:defRPr>
            </a:pPr>
            <a:r>
              <a:t>   Re-scores flow with an independent unsupervised Isolation Forest trained on benign traffic to cross-verify anomaly status.</a:t>
            </a:r>
          </a:p>
          <a:p>
            <a:pPr>
              <a:spcBef>
                <a:spcPts val="400"/>
              </a:spcBef>
              <a:defRPr sz="1000" b="1">
                <a:solidFill>
                  <a:srgbClr val="0F172A"/>
                </a:solidFill>
              </a:defRPr>
            </a:pPr>
            <a:r>
              <a:t>• (c) Host/IP Behavioral-Baseline Check (b):</a:t>
            </a:r>
          </a:p>
          <a:p>
            <a:pPr>
              <a:defRPr sz="900">
                <a:solidFill>
                  <a:srgbClr val="64748B"/>
                </a:solidFill>
              </a:defRPr>
            </a:pPr>
            <a:r>
              <a:t>   Compares source/dest host rolling traffic (packet rate, byte volume, connection bursts) against its historical rolling profile.</a:t>
            </a:r>
          </a:p>
          <a:p>
            <a:pPr>
              <a:spcBef>
                <a:spcPts val="400"/>
              </a:spcBef>
              <a:defRPr sz="1000" b="1">
                <a:solidFill>
                  <a:srgbClr val="0F172A"/>
                </a:solidFill>
              </a:defRPr>
            </a:pPr>
            <a:r>
              <a:t>• (d) SHAP Explanation-Consistency Check (e):</a:t>
            </a:r>
          </a:p>
          <a:p>
            <a:pPr>
              <a:defRPr sz="900">
                <a:solidFill>
                  <a:srgbClr val="64748B"/>
                </a:solidFill>
              </a:defRPr>
            </a:pPr>
            <a:r>
              <a:t>   Validates semantic alignment: e.g., a DDoS verdict MUST be driven by packet rate / flow duration, NOT unrelated ports. Inconsistency lowers trust.</a:t>
            </a:r>
          </a:p>
        </p:txBody>
      </p:sp>
      <p:sp>
        <p:nvSpPr>
          <p:cNvPr id="26" name="Rounded Rectangle 25"/>
          <p:cNvSpPr/>
          <p:nvPr/>
        </p:nvSpPr>
        <p:spPr>
          <a:xfrm>
            <a:off x="6217920" y="2926080"/>
            <a:ext cx="5212080" cy="3383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3063240"/>
            <a:ext cx="4846320" cy="3108960"/>
          </a:xfrm>
          <a:prstGeom prst="rect">
            <a:avLst/>
          </a:prstGeom>
          <a:noFill/>
        </p:spPr>
        <p:txBody>
          <a:bodyPr wrap="square" lIns="0" tIns="0">
            <a:spAutoFit/>
          </a:bodyPr>
          <a:lstStyle/>
          <a:p>
            <a:pPr>
              <a:defRPr sz="1250" b="1">
                <a:solidFill>
                  <a:srgbClr val="10B981"/>
                </a:solidFill>
              </a:defRPr>
            </a:pPr>
            <a:r>
              <a:t>Decision Rules, Confidence Fusion &amp; Progress</a:t>
            </a:r>
          </a:p>
          <a:p>
            <a:pPr>
              <a:spcBef>
                <a:spcPts val="300"/>
              </a:spcBef>
              <a:defRPr sz="950">
                <a:solidFill>
                  <a:srgbClr val="0F172A"/>
                </a:solidFill>
              </a:defRPr>
            </a:pPr>
            <a:r>
              <a:t>• CONFIRM (p_v ≥ 0.70): Full alert retention; escalated for priority scoring. High confidence.</a:t>
            </a:r>
          </a:p>
          <a:p>
            <a:pPr>
              <a:spcBef>
                <a:spcPts val="300"/>
              </a:spcBef>
              <a:defRPr sz="950">
                <a:solidFill>
                  <a:srgbClr val="0F172A"/>
                </a:solidFill>
              </a:defRPr>
            </a:pPr>
            <a:r>
              <a:t>• REDUCE (0.40 ≤ p_v &lt; 0.70): Down-weighted confidence; flagged 'Suspicious - Needs Review' on SOC feed.</a:t>
            </a:r>
          </a:p>
          <a:p>
            <a:pPr>
              <a:spcBef>
                <a:spcPts val="300"/>
              </a:spcBef>
              <a:defRPr sz="950">
                <a:solidFill>
                  <a:srgbClr val="0F172A"/>
                </a:solidFill>
              </a:defRPr>
            </a:pPr>
            <a:r>
              <a:t>• REJECT (p_v &lt; 0.40 or ≥2 conflicts): Reclassified as verified False Positive; archived in audit log; not escalated.</a:t>
            </a:r>
          </a:p>
          <a:p>
            <a:pPr>
              <a:spcBef>
                <a:spcPts val="500"/>
              </a:spcBef>
              <a:defRPr sz="1000" b="1">
                <a:solidFill>
                  <a:srgbClr val="0284C7"/>
                </a:solidFill>
              </a:defRPr>
            </a:pPr>
            <a:r>
              <a:t>Composite Confidence Fusion Formula:</a:t>
            </a:r>
          </a:p>
          <a:p>
            <a:pPr>
              <a:defRPr sz="950" b="1">
                <a:solidFill>
                  <a:srgbClr val="0F172A"/>
                </a:solidFill>
              </a:defRPr>
            </a:pPr>
            <a:r>
              <a:t>   C = α · p_d + β · p_v + γ · r_corr  (α=0.4, β=0.4, γ=0.2; α+β+γ=1)</a:t>
            </a:r>
          </a:p>
          <a:p>
            <a:pPr>
              <a:spcBef>
                <a:spcPts val="400"/>
              </a:spcBef>
              <a:defRPr sz="900">
                <a:solidFill>
                  <a:srgbClr val="64748B"/>
                </a:solidFill>
              </a:defRPr>
            </a:pPr>
            <a:r>
              <a:t>Progress on 6 Key Dimensions:</a:t>
            </a:r>
            <a:br/>
            <a:r>
              <a:t>• Datasets: CICIDS2017 &amp; CSE-CIC-IDS2018 (80+ features, cleaning active).</a:t>
            </a:r>
            <a:br/>
            <a:r>
              <a:t>• Threats: Benign, DoS/DDoS, Port Scan, Brute Force, Web Attack, Botnet.</a:t>
            </a:r>
            <a:br/>
            <a:r>
              <a:t>• Log-Analysis &amp; Verifier: RF/XGBoost + Isolation Forest &amp; SHAP checks.</a:t>
            </a:r>
            <a:br/>
            <a:r>
              <a:t>• Reporting &amp; Dashboard: JSON/PDF generation + React/Streamlit web UI.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TRUST-SOC | MICRO PROJECT PRESENTATION</a:t>
            </a:r>
          </a:p>
        </p:txBody>
      </p:sp>
      <p:sp>
        <p:nvSpPr>
          <p:cNvPr id="4" name="TextBox 3"/>
          <p:cNvSpPr txBox="1"/>
          <p:nvPr/>
        </p:nvSpPr>
        <p:spPr>
          <a:xfrm>
            <a:off x="731520" y="640080"/>
            <a:ext cx="10698480" cy="548640"/>
          </a:xfrm>
          <a:prstGeom prst="rect">
            <a:avLst/>
          </a:prstGeom>
          <a:noFill/>
        </p:spPr>
        <p:txBody>
          <a:bodyPr wrap="square" lIns="0" tIns="0" rIns="0" bIns="0">
            <a:spAutoFit/>
          </a:bodyPr>
          <a:lstStyle/>
          <a:p>
            <a:pPr>
              <a:defRPr sz="2200" b="1">
                <a:solidFill>
                  <a:srgbClr val="0F172A"/>
                </a:solidFill>
              </a:defRPr>
            </a:pPr>
            <a:r>
              <a:t>Performance Comparison: Existing Methodologies vs. TRUST-SOC</a:t>
            </a:r>
          </a:p>
        </p:txBody>
      </p:sp>
      <p:sp>
        <p:nvSpPr>
          <p:cNvPr id="5" name="Rectangle 4"/>
          <p:cNvSpPr/>
          <p:nvPr/>
        </p:nvSpPr>
        <p:spPr>
          <a:xfrm>
            <a:off x="731520" y="123444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417320"/>
          <a:ext cx="10728655" cy="3931920"/>
        </p:xfrm>
        <a:graphic>
          <a:graphicData uri="http://schemas.openxmlformats.org/drawingml/2006/table">
            <a:tbl>
              <a:tblPr firstRow="1" bandRow="1">
                <a:tableStyleId>{5C22544A-7EE6-4342-B048-85BDC9FD1C3A}</a:tableStyleId>
              </a:tblPr>
              <a:tblGrid>
                <a:gridCol w="2103120"/>
                <a:gridCol w="2103120"/>
                <a:gridCol w="2103120"/>
                <a:gridCol w="2103120"/>
                <a:gridCol w="2316175"/>
              </a:tblGrid>
              <a:tr h="561702">
                <a:tc>
                  <a:txBody>
                    <a:bodyPr/>
                    <a:lstStyle/>
                    <a:p>
                      <a:pPr algn="ctr">
                        <a:defRPr sz="1000" b="1">
                          <a:solidFill>
                            <a:srgbClr val="FFFFFF"/>
                          </a:solidFill>
                        </a:defRPr>
                      </a:pPr>
                      <a:r>
                        <a:t>Evaluation Dimension</a:t>
                      </a:r>
                    </a:p>
                  </a:txBody>
                  <a:tcPr>
                    <a:solidFill>
                      <a:srgbClr val="0B132B"/>
                    </a:solidFill>
                  </a:tcPr>
                </a:tc>
                <a:tc>
                  <a:txBody>
                    <a:bodyPr/>
                    <a:lstStyle/>
                    <a:p>
                      <a:pPr algn="ctr">
                        <a:defRPr sz="1000" b="1">
                          <a:solidFill>
                            <a:srgbClr val="FFFFFF"/>
                          </a:solidFill>
                        </a:defRPr>
                      </a:pPr>
                      <a:r>
                        <a:t>Traditional Signature IDS</a:t>
                      </a:r>
                      <a:br/>
                      <a:r>
                        <a:t>(Snort, Suricata, Zeek)</a:t>
                      </a:r>
                    </a:p>
                  </a:txBody>
                  <a:tcPr>
                    <a:solidFill>
                      <a:srgbClr val="0B132B"/>
                    </a:solidFill>
                  </a:tcPr>
                </a:tc>
                <a:tc>
                  <a:txBody>
                    <a:bodyPr/>
                    <a:lstStyle/>
                    <a:p>
                      <a:pPr algn="ctr">
                        <a:defRPr sz="1000" b="1">
                          <a:solidFill>
                            <a:srgbClr val="FFFFFF"/>
                          </a:solidFill>
                        </a:defRPr>
                      </a:pPr>
                      <a:r>
                        <a:t>Standalone ML Classifier</a:t>
                      </a:r>
                      <a:br/>
                      <a:r>
                        <a:t>(Buczak [4], Wang [5])</a:t>
                      </a:r>
                    </a:p>
                  </a:txBody>
                  <a:tcPr>
                    <a:solidFill>
                      <a:srgbClr val="0B132B"/>
                    </a:solidFill>
                  </a:tcPr>
                </a:tc>
                <a:tc>
                  <a:txBody>
                    <a:bodyPr/>
                    <a:lstStyle/>
                    <a:p>
                      <a:pPr algn="ctr">
                        <a:defRPr sz="1000" b="1">
                          <a:solidFill>
                            <a:srgbClr val="FFFFFF"/>
                          </a:solidFill>
                        </a:defRPr>
                      </a:pPr>
                      <a:r>
                        <a:t>Multi-Agent LLM Systems</a:t>
                      </a:r>
                      <a:br/>
                      <a:r>
                        <a:t>(CORTEX [7], QASecClaw [8])</a:t>
                      </a:r>
                    </a:p>
                  </a:txBody>
                  <a:tcPr>
                    <a:solidFill>
                      <a:srgbClr val="0B132B"/>
                    </a:solidFill>
                  </a:tcPr>
                </a:tc>
                <a:tc>
                  <a:txBody>
                    <a:bodyPr/>
                    <a:lstStyle/>
                    <a:p>
                      <a:pPr algn="ctr">
                        <a:defRPr sz="1000" b="1">
                          <a:solidFill>
                            <a:srgbClr val="FFFFFF"/>
                          </a:solidFill>
                        </a:defRPr>
                      </a:pPr>
                      <a:r>
                        <a:t>TRUST-SOC Pipeline</a:t>
                      </a:r>
                      <a:br/>
                      <a:r>
                        <a:t>(Proposed Architecture)</a:t>
                      </a:r>
                    </a:p>
                  </a:txBody>
                  <a:tcPr>
                    <a:solidFill>
                      <a:srgbClr val="0284C7"/>
                    </a:solidFill>
                  </a:tcPr>
                </a:tc>
              </a:tr>
              <a:tr h="561702">
                <a:tc>
                  <a:txBody>
                    <a:bodyPr/>
                    <a:lstStyle/>
                    <a:p>
                      <a:pPr algn="l">
                        <a:defRPr sz="950" b="1">
                          <a:solidFill>
                            <a:srgbClr val="0F172A"/>
                          </a:solidFill>
                        </a:defRPr>
                      </a:pPr>
                      <a:r>
                        <a:t>False Positive Defence</a:t>
                      </a:r>
                      <a:br/>
                      <a:r>
                        <a:t>(Second-line scrutiny)</a:t>
                      </a:r>
                    </a:p>
                  </a:txBody>
                  <a:tcPr>
                    <a:solidFill>
                      <a:srgbClr val="FFFFFF"/>
                    </a:solidFill>
                  </a:tcPr>
                </a:tc>
                <a:tc>
                  <a:txBody>
                    <a:bodyPr/>
                    <a:lstStyle/>
                    <a:p>
                      <a:pPr algn="l">
                        <a:defRPr sz="950">
                          <a:solidFill>
                            <a:srgbClr val="64748B"/>
                          </a:solidFill>
                        </a:defRPr>
                      </a:pPr>
                      <a:r>
                        <a:t>None: Strict rules trigger high benign noise.</a:t>
                      </a:r>
                    </a:p>
                  </a:txBody>
                  <a:tcPr>
                    <a:solidFill>
                      <a:srgbClr val="FFFFFF"/>
                    </a:solidFill>
                  </a:tcPr>
                </a:tc>
                <a:tc>
                  <a:txBody>
                    <a:bodyPr/>
                    <a:lstStyle/>
                    <a:p>
                      <a:pPr algn="l">
                        <a:defRPr sz="950">
                          <a:solidFill>
                            <a:srgbClr val="64748B"/>
                          </a:solidFill>
                        </a:defRPr>
                      </a:pPr>
                      <a:r>
                        <a:t>None: Raw classifier output passes straight to alerts.</a:t>
                      </a:r>
                    </a:p>
                  </a:txBody>
                  <a:tcPr>
                    <a:solidFill>
                      <a:srgbClr val="FFFFFF"/>
                    </a:solidFill>
                  </a:tcPr>
                </a:tc>
                <a:tc>
                  <a:txBody>
                    <a:bodyPr/>
                    <a:lstStyle/>
                    <a:p>
                      <a:pPr algn="l">
                        <a:defRPr sz="950">
                          <a:solidFill>
                            <a:srgbClr val="64748B"/>
                          </a:solidFill>
                        </a:defRPr>
                      </a:pPr>
                      <a:r>
                        <a:t>High: LLM agents debate &amp; correlate alerts.</a:t>
                      </a:r>
                    </a:p>
                  </a:txBody>
                  <a:tcPr>
                    <a:solidFill>
                      <a:srgbClr val="FFFFFF"/>
                    </a:solidFill>
                  </a:tcPr>
                </a:tc>
                <a:tc>
                  <a:txBody>
                    <a:bodyPr/>
                    <a:lstStyle/>
                    <a:p>
                      <a:pPr algn="l">
                        <a:defRPr sz="950" b="1">
                          <a:solidFill>
                            <a:srgbClr val="0284C7"/>
                          </a:solidFill>
                        </a:defRPr>
                      </a:pPr>
                      <a:r>
                        <a:t>High: Independent 4-signal verification engine.</a:t>
                      </a:r>
                    </a:p>
                  </a:txBody>
                  <a:tcPr>
                    <a:solidFill>
                      <a:srgbClr val="F0F9FF"/>
                    </a:solidFill>
                  </a:tcPr>
                </a:tc>
              </a:tr>
              <a:tr h="561702">
                <a:tc>
                  <a:txBody>
                    <a:bodyPr/>
                    <a:lstStyle/>
                    <a:p>
                      <a:pPr algn="l">
                        <a:defRPr sz="950" b="1">
                          <a:solidFill>
                            <a:srgbClr val="0F172A"/>
                          </a:solidFill>
                        </a:defRPr>
                      </a:pPr>
                      <a:r>
                        <a:t>Explainability &amp;</a:t>
                      </a:r>
                      <a:br/>
                      <a:r>
                        <a:t>Interpretability</a:t>
                      </a:r>
                    </a:p>
                  </a:txBody>
                  <a:tcPr>
                    <a:solidFill>
                      <a:srgbClr val="F1F5F9"/>
                    </a:solidFill>
                  </a:tcPr>
                </a:tc>
                <a:tc>
                  <a:txBody>
                    <a:bodyPr/>
                    <a:lstStyle/>
                    <a:p>
                      <a:pPr algn="l">
                        <a:defRPr sz="950">
                          <a:solidFill>
                            <a:srgbClr val="64748B"/>
                          </a:solidFill>
                        </a:defRPr>
                      </a:pPr>
                      <a:r>
                        <a:t>Partial: Matched signature regex only.</a:t>
                      </a:r>
                    </a:p>
                  </a:txBody>
                  <a:tcPr>
                    <a:solidFill>
                      <a:srgbClr val="F1F5F9"/>
                    </a:solidFill>
                  </a:tcPr>
                </a:tc>
                <a:tc>
                  <a:txBody>
                    <a:bodyPr/>
                    <a:lstStyle/>
                    <a:p>
                      <a:pPr algn="l">
                        <a:defRPr sz="950">
                          <a:solidFill>
                            <a:srgbClr val="64748B"/>
                          </a:solidFill>
                        </a:defRPr>
                      </a:pPr>
                      <a:r>
                        <a:t>Post-hoc: Static SHAP plots for offline viewing only.</a:t>
                      </a:r>
                    </a:p>
                  </a:txBody>
                  <a:tcPr>
                    <a:solidFill>
                      <a:srgbClr val="F1F5F9"/>
                    </a:solidFill>
                  </a:tcPr>
                </a:tc>
                <a:tc>
                  <a:txBody>
                    <a:bodyPr/>
                    <a:lstStyle/>
                    <a:p>
                      <a:pPr algn="l">
                        <a:defRPr sz="950">
                          <a:solidFill>
                            <a:srgbClr val="64748B"/>
                          </a:solidFill>
                        </a:defRPr>
                      </a:pPr>
                      <a:r>
                        <a:t>Textual: LLM reasoning narrative (uncalibrated).</a:t>
                      </a:r>
                    </a:p>
                  </a:txBody>
                  <a:tcPr>
                    <a:solidFill>
                      <a:srgbClr val="F1F5F9"/>
                    </a:solidFill>
                  </a:tcPr>
                </a:tc>
                <a:tc>
                  <a:txBody>
                    <a:bodyPr/>
                    <a:lstStyle/>
                    <a:p>
                      <a:pPr algn="l">
                        <a:defRPr sz="950" b="1">
                          <a:solidFill>
                            <a:srgbClr val="0284C7"/>
                          </a:solidFill>
                        </a:defRPr>
                      </a:pPr>
                      <a:r>
                        <a:t>Active: SHAP feature ranking audits semantic validity.</a:t>
                      </a:r>
                    </a:p>
                  </a:txBody>
                  <a:tcPr>
                    <a:solidFill>
                      <a:srgbClr val="F0F9FF"/>
                    </a:solidFill>
                  </a:tcPr>
                </a:tc>
              </a:tr>
              <a:tr h="561702">
                <a:tc>
                  <a:txBody>
                    <a:bodyPr/>
                    <a:lstStyle/>
                    <a:p>
                      <a:pPr algn="l">
                        <a:defRPr sz="950" b="1">
                          <a:solidFill>
                            <a:srgbClr val="0F172A"/>
                          </a:solidFill>
                        </a:defRPr>
                      </a:pPr>
                      <a:r>
                        <a:t>Alert Prioritisation &amp;</a:t>
                      </a:r>
                      <a:br/>
                      <a:r>
                        <a:t>Triage Scoring</a:t>
                      </a:r>
                    </a:p>
                  </a:txBody>
                  <a:tcPr>
                    <a:solidFill>
                      <a:srgbClr val="FFFFFF"/>
                    </a:solidFill>
                  </a:tcPr>
                </a:tc>
                <a:tc>
                  <a:txBody>
                    <a:bodyPr/>
                    <a:lstStyle/>
                    <a:p>
                      <a:pPr algn="l">
                        <a:defRPr sz="950">
                          <a:solidFill>
                            <a:srgbClr val="64748B"/>
                          </a:solidFill>
                        </a:defRPr>
                      </a:pPr>
                      <a:r>
                        <a:t>Static severity levels (Low/Med/High based on rule).</a:t>
                      </a:r>
                    </a:p>
                  </a:txBody>
                  <a:tcPr>
                    <a:solidFill>
                      <a:srgbClr val="FFFFFF"/>
                    </a:solidFill>
                  </a:tcPr>
                </a:tc>
                <a:tc>
                  <a:txBody>
                    <a:bodyPr/>
                    <a:lstStyle/>
                    <a:p>
                      <a:pPr algn="l">
                        <a:defRPr sz="950">
                          <a:solidFill>
                            <a:srgbClr val="64748B"/>
                          </a:solidFill>
                        </a:defRPr>
                      </a:pPr>
                      <a:r>
                        <a:t>Single probability score p_d; no multi-source fusion.</a:t>
                      </a:r>
                    </a:p>
                  </a:txBody>
                  <a:tcPr>
                    <a:solidFill>
                      <a:srgbClr val="FFFFFF"/>
                    </a:solidFill>
                  </a:tcPr>
                </a:tc>
                <a:tc>
                  <a:txBody>
                    <a:bodyPr/>
                    <a:lstStyle/>
                    <a:p>
                      <a:pPr algn="l">
                        <a:defRPr sz="950">
                          <a:solidFill>
                            <a:srgbClr val="64748B"/>
                          </a:solidFill>
                        </a:defRPr>
                      </a:pPr>
                      <a:r>
                        <a:t>Categorical triage verdict via prompt instructions.</a:t>
                      </a:r>
                    </a:p>
                  </a:txBody>
                  <a:tcPr>
                    <a:solidFill>
                      <a:srgbClr val="FFFFFF"/>
                    </a:solidFill>
                  </a:tcPr>
                </a:tc>
                <a:tc>
                  <a:txBody>
                    <a:bodyPr/>
                    <a:lstStyle/>
                    <a:p>
                      <a:pPr algn="l">
                        <a:defRPr sz="950" b="1">
                          <a:solidFill>
                            <a:srgbClr val="0284C7"/>
                          </a:solidFill>
                        </a:defRPr>
                      </a:pPr>
                      <a:r>
                        <a:t>Fused composite score C = α·p_d + β·p_v + γ·r_corr.</a:t>
                      </a:r>
                    </a:p>
                  </a:txBody>
                  <a:tcPr>
                    <a:solidFill>
                      <a:srgbClr val="F0F9FF"/>
                    </a:solidFill>
                  </a:tcPr>
                </a:tc>
              </a:tr>
              <a:tr h="561702">
                <a:tc>
                  <a:txBody>
                    <a:bodyPr/>
                    <a:lstStyle/>
                    <a:p>
                      <a:pPr algn="l">
                        <a:defRPr sz="950" b="1">
                          <a:solidFill>
                            <a:srgbClr val="0F172A"/>
                          </a:solidFill>
                        </a:defRPr>
                      </a:pPr>
                      <a:r>
                        <a:t>Auditability &amp; Report</a:t>
                      </a:r>
                      <a:br/>
                      <a:r>
                        <a:t>Traceability</a:t>
                      </a:r>
                    </a:p>
                  </a:txBody>
                  <a:tcPr>
                    <a:solidFill>
                      <a:srgbClr val="F1F5F9"/>
                    </a:solidFill>
                  </a:tcPr>
                </a:tc>
                <a:tc>
                  <a:txBody>
                    <a:bodyPr/>
                    <a:lstStyle/>
                    <a:p>
                      <a:pPr algn="l">
                        <a:defRPr sz="950">
                          <a:solidFill>
                            <a:srgbClr val="64748B"/>
                          </a:solidFill>
                        </a:defRPr>
                      </a:pPr>
                      <a:r>
                        <a:t>Log line only; no feature or model link.</a:t>
                      </a:r>
                    </a:p>
                  </a:txBody>
                  <a:tcPr>
                    <a:solidFill>
                      <a:srgbClr val="F1F5F9"/>
                    </a:solidFill>
                  </a:tcPr>
                </a:tc>
                <a:tc>
                  <a:txBody>
                    <a:bodyPr/>
                    <a:lstStyle/>
                    <a:p>
                      <a:pPr algn="l">
                        <a:defRPr sz="950">
                          <a:solidFill>
                            <a:srgbClr val="64748B"/>
                          </a:solidFill>
                        </a:defRPr>
                      </a:pPr>
                      <a:r>
                        <a:t>Opaque label; no structured evidence bundle.</a:t>
                      </a:r>
                    </a:p>
                  </a:txBody>
                  <a:tcPr>
                    <a:solidFill>
                      <a:srgbClr val="F1F5F9"/>
                    </a:solidFill>
                  </a:tcPr>
                </a:tc>
                <a:tc>
                  <a:txBody>
                    <a:bodyPr/>
                    <a:lstStyle/>
                    <a:p>
                      <a:pPr algn="l">
                        <a:defRPr sz="950">
                          <a:solidFill>
                            <a:srgbClr val="64748B"/>
                          </a:solidFill>
                        </a:defRPr>
                      </a:pPr>
                      <a:r>
                        <a:t>Free-form text chat transcript; non-deterministic.</a:t>
                      </a:r>
                    </a:p>
                  </a:txBody>
                  <a:tcPr>
                    <a:solidFill>
                      <a:srgbClr val="F1F5F9"/>
                    </a:solidFill>
                  </a:tcPr>
                </a:tc>
                <a:tc>
                  <a:txBody>
                    <a:bodyPr/>
                    <a:lstStyle/>
                    <a:p>
                      <a:pPr algn="l">
                        <a:defRPr sz="950" b="1">
                          <a:solidFill>
                            <a:srgbClr val="0284C7"/>
                          </a:solidFill>
                        </a:defRPr>
                      </a:pPr>
                      <a:r>
                        <a:t>Structured JSON &amp; PDF: Raw flow, SHAP, MITRE tags.</a:t>
                      </a:r>
                    </a:p>
                  </a:txBody>
                  <a:tcPr>
                    <a:solidFill>
                      <a:srgbClr val="F0F9FF"/>
                    </a:solidFill>
                  </a:tcPr>
                </a:tc>
              </a:tr>
              <a:tr h="561702">
                <a:tc>
                  <a:txBody>
                    <a:bodyPr/>
                    <a:lstStyle/>
                    <a:p>
                      <a:pPr algn="l">
                        <a:defRPr sz="950" b="1">
                          <a:solidFill>
                            <a:srgbClr val="0F172A"/>
                          </a:solidFill>
                        </a:defRPr>
                      </a:pPr>
                      <a:r>
                        <a:t>Resource Overhead &amp;</a:t>
                      </a:r>
                      <a:br/>
                      <a:r>
                        <a:t>Runtime Cost</a:t>
                      </a:r>
                    </a:p>
                  </a:txBody>
                  <a:tcPr>
                    <a:solidFill>
                      <a:srgbClr val="FFFFFF"/>
                    </a:solidFill>
                  </a:tcPr>
                </a:tc>
                <a:tc>
                  <a:txBody>
                    <a:bodyPr/>
                    <a:lstStyle/>
                    <a:p>
                      <a:pPr algn="l">
                        <a:defRPr sz="950">
                          <a:solidFill>
                            <a:srgbClr val="64748B"/>
                          </a:solidFill>
                        </a:defRPr>
                      </a:pPr>
                      <a:r>
                        <a:t>Very Low: Pattern matching, minimal memory.</a:t>
                      </a:r>
                    </a:p>
                  </a:txBody>
                  <a:tcPr>
                    <a:solidFill>
                      <a:srgbClr val="FFFFFF"/>
                    </a:solidFill>
                  </a:tcPr>
                </a:tc>
                <a:tc>
                  <a:txBody>
                    <a:bodyPr/>
                    <a:lstStyle/>
                    <a:p>
                      <a:pPr algn="l">
                        <a:defRPr sz="950">
                          <a:solidFill>
                            <a:srgbClr val="64748B"/>
                          </a:solidFill>
                        </a:defRPr>
                      </a:pPr>
                      <a:r>
                        <a:t>Low: Fast offline training and millisecond inference.</a:t>
                      </a:r>
                    </a:p>
                  </a:txBody>
                  <a:tcPr>
                    <a:solidFill>
                      <a:srgbClr val="FFFFFF"/>
                    </a:solidFill>
                  </a:tcPr>
                </a:tc>
                <a:tc>
                  <a:txBody>
                    <a:bodyPr/>
                    <a:lstStyle/>
                    <a:p>
                      <a:pPr algn="l">
                        <a:defRPr sz="950">
                          <a:solidFill>
                            <a:srgbClr val="64748B"/>
                          </a:solidFill>
                        </a:defRPr>
                      </a:pPr>
                      <a:r>
                        <a:t>Very High: Paid commercial API tokens, high latency.</a:t>
                      </a:r>
                    </a:p>
                  </a:txBody>
                  <a:tcPr>
                    <a:solidFill>
                      <a:srgbClr val="FFFFFF"/>
                    </a:solidFill>
                  </a:tcPr>
                </a:tc>
                <a:tc>
                  <a:txBody>
                    <a:bodyPr/>
                    <a:lstStyle/>
                    <a:p>
                      <a:pPr algn="l">
                        <a:defRPr sz="950" b="1">
                          <a:solidFill>
                            <a:srgbClr val="0284C7"/>
                          </a:solidFill>
                        </a:defRPr>
                      </a:pPr>
                      <a:r>
                        <a:t>Low/Moderate: Fast scikit-learn/XGBoost inference.</a:t>
                      </a:r>
                    </a:p>
                  </a:txBody>
                  <a:tcPr>
                    <a:solidFill>
                      <a:srgbClr val="F0F9FF"/>
                    </a:solidFill>
                  </a:tcPr>
                </a:tc>
              </a:tr>
              <a:tr h="561708">
                <a:tc>
                  <a:txBody>
                    <a:bodyPr/>
                    <a:lstStyle/>
                    <a:p>
                      <a:pPr algn="l">
                        <a:defRPr sz="950" b="1">
                          <a:solidFill>
                            <a:srgbClr val="0F172A"/>
                          </a:solidFill>
                        </a:defRPr>
                      </a:pPr>
                      <a:r>
                        <a:t>Academic Reproducibility</a:t>
                      </a:r>
                      <a:br/>
                      <a:r>
                        <a:t>&amp; Dataset Grounding</a:t>
                      </a:r>
                    </a:p>
                  </a:txBody>
                  <a:tcPr>
                    <a:solidFill>
                      <a:srgbClr val="F1F5F9"/>
                    </a:solidFill>
                  </a:tcPr>
                </a:tc>
                <a:tc>
                  <a:txBody>
                    <a:bodyPr/>
                    <a:lstStyle/>
                    <a:p>
                      <a:pPr algn="l">
                        <a:defRPr sz="950">
                          <a:solidFill>
                            <a:srgbClr val="64748B"/>
                          </a:solidFill>
                        </a:defRPr>
                      </a:pPr>
                      <a:r>
                        <a:t>Moderate: Requires live traffic or custom pcaps.</a:t>
                      </a:r>
                    </a:p>
                  </a:txBody>
                  <a:tcPr>
                    <a:solidFill>
                      <a:srgbClr val="F1F5F9"/>
                    </a:solidFill>
                  </a:tcPr>
                </a:tc>
                <a:tc>
                  <a:txBody>
                    <a:bodyPr/>
                    <a:lstStyle/>
                    <a:p>
                      <a:pPr algn="l">
                        <a:defRPr sz="950">
                          <a:solidFill>
                            <a:srgbClr val="64748B"/>
                          </a:solidFill>
                        </a:defRPr>
                      </a:pPr>
                      <a:r>
                        <a:t>High: Uses standard open datasets (CICIDS).</a:t>
                      </a:r>
                    </a:p>
                  </a:txBody>
                  <a:tcPr>
                    <a:solidFill>
                      <a:srgbClr val="F1F5F9"/>
                    </a:solidFill>
                  </a:tcPr>
                </a:tc>
                <a:tc>
                  <a:txBody>
                    <a:bodyPr/>
                    <a:lstStyle/>
                    <a:p>
                      <a:pPr algn="l">
                        <a:defRPr sz="950">
                          <a:solidFill>
                            <a:srgbClr val="64748B"/>
                          </a:solidFill>
                        </a:defRPr>
                      </a:pPr>
                      <a:r>
                        <a:t>Very Low: Proprietary SIEM logs, closed APIs.</a:t>
                      </a:r>
                    </a:p>
                  </a:txBody>
                  <a:tcPr>
                    <a:solidFill>
                      <a:srgbClr val="F1F5F9"/>
                    </a:solidFill>
                  </a:tcPr>
                </a:tc>
                <a:tc>
                  <a:txBody>
                    <a:bodyPr/>
                    <a:lstStyle/>
                    <a:p>
                      <a:pPr algn="l">
                        <a:defRPr sz="950" b="1">
                          <a:solidFill>
                            <a:srgbClr val="0284C7"/>
                          </a:solidFill>
                        </a:defRPr>
                      </a:pPr>
                      <a:r>
                        <a:t>100% Reproducible: CICIDS2017 &amp; CSE-CIC-IDS2018.</a:t>
                      </a:r>
                    </a:p>
                  </a:txBody>
                  <a:tcPr>
                    <a:solidFill>
                      <a:srgbClr val="F0F9FF"/>
                    </a:solidFill>
                  </a:tcPr>
                </a:tc>
              </a:tr>
            </a:tbl>
          </a:graphicData>
        </a:graphic>
      </p:graphicFrame>
      <p:sp>
        <p:nvSpPr>
          <p:cNvPr id="7" name="Rounded Rectangle 6"/>
          <p:cNvSpPr/>
          <p:nvPr/>
        </p:nvSpPr>
        <p:spPr>
          <a:xfrm>
            <a:off x="731520" y="5486400"/>
            <a:ext cx="10698480" cy="914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532120"/>
            <a:ext cx="10332720" cy="822960"/>
          </a:xfrm>
          <a:prstGeom prst="rect">
            <a:avLst/>
          </a:prstGeom>
          <a:noFill/>
        </p:spPr>
        <p:txBody>
          <a:bodyPr wrap="square" lIns="0" tIns="0">
            <a:spAutoFit/>
          </a:bodyPr>
          <a:lstStyle/>
          <a:p>
            <a:pPr>
              <a:defRPr sz="1100" b="1">
                <a:solidFill>
                  <a:srgbClr val="0284C7"/>
                </a:solidFill>
              </a:defRPr>
            </a:pPr>
            <a:r>
              <a:t>Key Takeaway: Best-of-Both-Worlds Paradigm</a:t>
            </a:r>
          </a:p>
          <a:p>
            <a:pPr>
              <a:spcBef>
                <a:spcPts val="200"/>
              </a:spcBef>
              <a:defRPr sz="1000">
                <a:solidFill>
                  <a:srgbClr val="0F172A"/>
                </a:solidFill>
              </a:defRPr>
            </a:pPr>
            <a:r>
              <a:t>TRUST-SOC captures the superior false-positive reduction (40%+ expected) of advanced multi-agent architectures (like CORTEX), while preserving the lightweight computational speed, low operational cost, and rigorous academic reproducibility of classical ML evaluated on open, peer-reviewed intrusion benchmarks (CICIDS2017 &amp; CSE-CIC-IDS2018).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